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11.png" ContentType="image/png"/>
  <Override PartName="/ppt/media/image8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F1823AF-C23E-4354-9A85-3F2C6C54741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E1986D-B262-4B6C-BA88-59606B43F1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8727DA-0591-447F-9803-3B6CB53112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E0D51B-2076-401A-BA0F-C5C093329D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About 5,300 lines of Verilog in the main RTL folder.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185000-5212-4C20-8850-B897E562D6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5F0C5A-FBC2-4647-A076-95E5CEA279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5CAA40-6DA4-44E8-A1F3-06BBEB7314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D5E731-D416-41FF-B163-EE1E8D8A2D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0AD5FD-249B-49EF-92D0-95BA304E52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002E4C-F902-480B-A738-193A74928E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CE6FAB-AEFB-4FB3-812A-945830BEB3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8818ED-0A7C-4AA4-9392-7665910AF5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1AD0C2-43DC-43C3-A5D1-16BA88061B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69D9ED-B866-40FE-96EE-BC3030A581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1D16F3-0428-4E51-810C-45BB7A8ED0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A19D51-6EF0-4494-9A3B-4B68D1D98E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1AC6E6-16AF-4D7C-8AFA-2CF62FA531D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B3C837-9794-4208-A711-3A1047A063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8D0AA3-FE82-4289-A42C-8B040AE675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030245-6328-489D-B994-23CA72B124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6937244-955E-45F3-90DE-D633670991A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98458C-86EB-474C-A0CF-97792365FBC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8275320" y="0"/>
            <a:ext cx="319320" cy="547920"/>
          </a:xfrm>
          <a:prstGeom prst="rect">
            <a:avLst/>
          </a:prstGeom>
          <a:solidFill>
            <a:srgbClr val="b312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CE0BAA05-81D3-4533-A457-A827D5D05615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8275320" y="0"/>
            <a:ext cx="319320" cy="547920"/>
          </a:xfrm>
          <a:prstGeom prst="rect">
            <a:avLst/>
          </a:prstGeom>
          <a:solidFill>
            <a:srgbClr val="b312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A0772034-736A-4ED5-B60B-2F5DA717B30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3931920" y="182880"/>
            <a:ext cx="1279440" cy="12794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 0" descr="image6.png"/>
          <p:cNvPicPr/>
          <p:nvPr/>
        </p:nvPicPr>
        <p:blipFill>
          <a:blip r:embed="rId1"/>
          <a:stretch/>
        </p:blipFill>
        <p:spPr>
          <a:xfrm>
            <a:off x="3977640" y="228600"/>
            <a:ext cx="1188000" cy="1188000"/>
          </a:xfrm>
          <a:prstGeom prst="rect">
            <a:avLst/>
          </a:prstGeom>
          <a:ln w="0">
            <a:noFill/>
          </a:ln>
        </p:spPr>
      </p:pic>
      <p:sp>
        <p:nvSpPr>
          <p:cNvPr id="16" name="Text 1"/>
          <p:cNvSpPr/>
          <p:nvPr/>
        </p:nvSpPr>
        <p:spPr>
          <a:xfrm>
            <a:off x="457200" y="137160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REVIEW 2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40080" y="2103120"/>
            <a:ext cx="7863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b134"/>
                </a:solidFill>
                <a:latin typeface="Calibri"/>
              </a:rPr>
              <a:t>RTL Implementation and Integration of the 64-Router Hybrid NoC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120640" y="3154680"/>
            <a:ext cx="35654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Submitted to: Dr. Deepak 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By: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Ravi Teja  23BEC7342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John Joyce  23BEC7335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Anirudh  23BEC7217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6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FBA420C-6F72-4985-863E-9797A5E930CE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Review 1 Recap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097280"/>
            <a:ext cx="1882800" cy="100512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</a:rPr>
              <a:t>Problem: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</a:rPr>
              <a:t>IP scaling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2340720" y="149040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2541960" y="1097280"/>
            <a:ext cx="1882800" cy="100512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</a:rPr>
              <a:t>Hybrid topology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4425840" y="149040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4626720" y="1097280"/>
            <a:ext cx="1882800" cy="100512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</a:rPr>
              <a:t>clusters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510600" y="149040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711840" y="1097280"/>
            <a:ext cx="1882800" cy="100512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Calibri"/>
              </a:rPr>
              <a:t>64 routers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457200" y="2560320"/>
            <a:ext cx="813744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Mesh locally for regularity; Spidergon-like links globally for short cross-chip paths.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Review 2 question: how did we turn this architecture into RTL and integrate it?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7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6480D39-E362-4A4B-AB52-0A4CB75064E0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Final Architecture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0" descr="image8.png"/>
          <p:cNvPicPr/>
          <p:nvPr/>
        </p:nvPicPr>
        <p:blipFill>
          <a:blip r:embed="rId1"/>
          <a:stretch/>
        </p:blipFill>
        <p:spPr>
          <a:xfrm>
            <a:off x="457200" y="868680"/>
            <a:ext cx="4937040" cy="2916360"/>
          </a:xfrm>
          <a:prstGeom prst="rect">
            <a:avLst/>
          </a:prstGeom>
          <a:ln w="0">
            <a:noFill/>
          </a:ln>
        </p:spPr>
      </p:pic>
      <p:sp>
        <p:nvSpPr>
          <p:cNvPr id="32" name="Text 1"/>
          <p:cNvSpPr/>
          <p:nvPr/>
        </p:nvSpPr>
        <p:spPr>
          <a:xfrm>
            <a:off x="5577840" y="1005840"/>
            <a:ext cx="310824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4 clusters x 4x4 mesh = 64 routers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Gateway: R0 (0,0) of each cluster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Ring + diagonal global links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48-bit packets, 12-port routers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sldNum" idx="8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26CCA79E-9534-4B65-9EAF-3DEA888F436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RTL Files We Are Building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5" name="Table 0"/>
          <p:cNvGraphicFramePr/>
          <p:nvPr/>
        </p:nvGraphicFramePr>
        <p:xfrm>
          <a:off x="365760" y="868680"/>
          <a:ext cx="8412120" cy="2220480"/>
        </p:xfrm>
        <a:graphic>
          <a:graphicData uri="http://schemas.openxmlformats.org/drawingml/2006/table">
            <a:tbl>
              <a:tblPr/>
              <a:tblGrid>
                <a:gridCol w="1463040"/>
                <a:gridCol w="694944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Files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Definitions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noc_defines.vh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Top / network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hybrid_noc_v2.v, mesh_4x4_v2.v, global_network_4cluster.v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Router core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router.v, router_controller.v, router_control_logic.v, crossbar_switch.v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Input side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input_port.v, input_buffer.v, fifo.v, request_generator.v, request_classifier.v, packet_receiver.v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Routing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routing_unit.v, xy_routing.v, spidergon_routing.v, gateway_selector.v, adaptive_routing.v, congestion_checker.v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Arbitration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arbiter_bank.v, round_robin_arbiter.v, grant_to_select.v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Output side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output_port.v, output_buffer.v, packet_generator.v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36" name="PlaceHolder 1"/>
          <p:cNvSpPr>
            <a:spLocks noGrp="1"/>
          </p:cNvSpPr>
          <p:nvPr>
            <p:ph type="sldNum" idx="9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26719115-867A-42B1-8252-F5A9C30C37FE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RTL Hierarchy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57200" y="914400"/>
            <a:ext cx="8137440" cy="3748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hybrid_noc_v2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├──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mesh_4x4_v2          x 4 clusters (C0..C3)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│     └──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router         x 16 per cluster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 ├──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input_port x 6  (input_buffer + routing_unit + request_generator)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 ├──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router_controller  (arbiter_bank, round-robin)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 ├──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router_control_logic (selects, read/write enables)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 ├──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crossbar_switch (6x6)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 └──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output_port x 6 (output_buffer)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├──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global_network_4cluster   (ring + opposite links)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└── </a:t>
            </a: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gateway connections (GATEWAY port of R0)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CC68B80-0982-4755-9403-12F355A5D152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Design Image: Top-Level Schematic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420480" y="877680"/>
            <a:ext cx="5467320" cy="347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0" descr="sch1.jpg"/>
          <p:cNvPicPr/>
          <p:nvPr/>
        </p:nvPicPr>
        <p:blipFill>
          <a:blip r:embed="rId1"/>
          <a:stretch/>
        </p:blipFill>
        <p:spPr>
          <a:xfrm>
            <a:off x="457200" y="914400"/>
            <a:ext cx="5394240" cy="3405240"/>
          </a:xfrm>
          <a:prstGeom prst="rect">
            <a:avLst/>
          </a:prstGeom>
          <a:ln w="0">
            <a:noFill/>
          </a:ln>
        </p:spPr>
      </p:pic>
      <p:sp>
        <p:nvSpPr>
          <p:cNvPr id="43" name="Text 2"/>
          <p:cNvSpPr/>
          <p:nvPr/>
        </p:nvSpPr>
        <p:spPr>
          <a:xfrm>
            <a:off x="457200" y="43934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Vivado elaborated schematic: hybrid_noc_v2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6035040" y="914400"/>
            <a:ext cx="26510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Four mesh blocks C0_MESH..C3_MESH.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GLOBAL_NETWORK in the centre links the clusters.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ROUTE_C0..C3 blocks 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sldNum" idx="11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8804DB0-572B-4756-9897-A3B39E5134C8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Design Image: One 4x4 Cluster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420480" y="877680"/>
            <a:ext cx="5467320" cy="347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Image 0" descr="sch2.jpg"/>
          <p:cNvPicPr/>
          <p:nvPr/>
        </p:nvPicPr>
        <p:blipFill>
          <a:blip r:embed="rId1"/>
          <a:stretch/>
        </p:blipFill>
        <p:spPr>
          <a:xfrm>
            <a:off x="457200" y="914400"/>
            <a:ext cx="5394240" cy="3405240"/>
          </a:xfrm>
          <a:prstGeom prst="rect">
            <a:avLst/>
          </a:prstGeom>
          <a:ln w="0">
            <a:noFill/>
          </a:ln>
        </p:spPr>
      </p:pic>
      <p:sp>
        <p:nvSpPr>
          <p:cNvPr id="49" name="Text 2"/>
          <p:cNvSpPr/>
          <p:nvPr/>
        </p:nvSpPr>
        <p:spPr>
          <a:xfrm>
            <a:off x="457200" y="43934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Elaborated schematic: mesh_4x4_v2 (16 routers)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035040" y="914400"/>
            <a:ext cx="26510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16 router instances R0..R15 in one cluster.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Neighbour links form the 2D mesh.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R0 carries the extra GATEWAY port.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sldNum" idx="12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FF7EC2C-3C53-4B5C-B1BB-75944DCD912E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Design Image: Router Overview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420480" y="877680"/>
            <a:ext cx="5467320" cy="347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Image 0" descr="sch3.jpg"/>
          <p:cNvPicPr/>
          <p:nvPr/>
        </p:nvPicPr>
        <p:blipFill>
          <a:blip r:embed="rId1"/>
          <a:stretch/>
        </p:blipFill>
        <p:spPr>
          <a:xfrm>
            <a:off x="457200" y="914400"/>
            <a:ext cx="5394240" cy="3405240"/>
          </a:xfrm>
          <a:prstGeom prst="rect">
            <a:avLst/>
          </a:prstGeom>
          <a:ln w="0">
            <a:noFill/>
          </a:ln>
        </p:spPr>
      </p:pic>
      <p:sp>
        <p:nvSpPr>
          <p:cNvPr id="55" name="Text 2"/>
          <p:cNvSpPr/>
          <p:nvPr/>
        </p:nvSpPr>
        <p:spPr>
          <a:xfrm>
            <a:off x="457200" y="43934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Elaborated schematic: router (R5 of cluster C0)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6035040" y="914400"/>
            <a:ext cx="26510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Six input ports and six output ports.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router_controller feeds router_control_logic.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crossbar_switch sits between them.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ldNum" idx="13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C7C8F5FD-BB72-48A2-A66C-EBD1920DA157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Design Image: Router Detail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420480" y="877680"/>
            <a:ext cx="5467320" cy="347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0" descr="sch4.jpg"/>
          <p:cNvPicPr/>
          <p:nvPr/>
        </p:nvPicPr>
        <p:blipFill>
          <a:blip r:embed="rId1"/>
          <a:stretch/>
        </p:blipFill>
        <p:spPr>
          <a:xfrm>
            <a:off x="457200" y="914400"/>
            <a:ext cx="5394240" cy="3405240"/>
          </a:xfrm>
          <a:prstGeom prst="rect">
            <a:avLst/>
          </a:prstGeom>
          <a:ln w="0">
            <a:noFill/>
          </a:ln>
        </p:spPr>
      </p:pic>
      <p:sp>
        <p:nvSpPr>
          <p:cNvPr id="61" name="Text 2"/>
          <p:cNvSpPr/>
          <p:nvPr/>
        </p:nvSpPr>
        <p:spPr>
          <a:xfrm>
            <a:off x="457200" y="43934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Router with port names visible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6035040" y="914400"/>
            <a:ext cx="26510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input_port x 6: East, Gateway, North, Local, South, West.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router_controller takes dir0..dir5 and requests, returns grants.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Control logic outputs sel0-sel5 and read/write enables.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crossbar in0-in5 to out0-out5 (48-bit).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sldNum" idx="14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BAD6C86-9889-4456-A88D-949889EF1386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Design Image: Input Port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420480" y="877680"/>
            <a:ext cx="5467320" cy="347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0" descr="sch5.jpg"/>
          <p:cNvPicPr/>
          <p:nvPr/>
        </p:nvPicPr>
        <p:blipFill>
          <a:blip r:embed="rId1"/>
          <a:stretch/>
        </p:blipFill>
        <p:spPr>
          <a:xfrm>
            <a:off x="457200" y="914400"/>
            <a:ext cx="5394240" cy="3405240"/>
          </a:xfrm>
          <a:prstGeom prst="rect">
            <a:avLst/>
          </a:prstGeom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457200" y="43934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Elaborated schematic: input_port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6035040" y="914400"/>
            <a:ext cx="26510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input_buffer (FIFO) stores 48-bit packets.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routing_unit decodes dest cluster/row/col to a 3-bit direction.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request_generator raises request when FIFO has data.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sldNum" idx="15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AEFA945-7D0E-4D38-93D6-59CE0F67DBA0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Design Image: Output Port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420480" y="877680"/>
            <a:ext cx="5467320" cy="347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Image 0" descr="sch6.jpg"/>
          <p:cNvPicPr/>
          <p:nvPr/>
        </p:nvPicPr>
        <p:blipFill>
          <a:blip r:embed="rId1"/>
          <a:stretch/>
        </p:blipFill>
        <p:spPr>
          <a:xfrm>
            <a:off x="457200" y="914400"/>
            <a:ext cx="5394240" cy="3405240"/>
          </a:xfrm>
          <a:prstGeom prst="rect">
            <a:avLst/>
          </a:prstGeom>
          <a:ln w="0">
            <a:noFill/>
          </a:ln>
        </p:spPr>
      </p:pic>
      <p:sp>
        <p:nvSpPr>
          <p:cNvPr id="73" name="Text 2"/>
          <p:cNvSpPr/>
          <p:nvPr/>
        </p:nvSpPr>
        <p:spPr>
          <a:xfrm>
            <a:off x="457200" y="43934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Elaborated schematic: output_port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6035040" y="914400"/>
            <a:ext cx="26510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output_buffer holds the packet to the next router.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read_en gated with a RTL_AND; valid from empty flag.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Six output ports: Local, N, S, E, W, Gateway.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sldNum" idx="16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6DC85B2-5EFA-4D53-9C56-997D29F9090C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12"/>
          <p:cNvSpPr/>
          <p:nvPr/>
        </p:nvSpPr>
        <p:spPr>
          <a:xfrm>
            <a:off x="457200" y="43934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6035040" y="914400"/>
            <a:ext cx="26510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sldNum" idx="17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29F00A2E-5940-46FB-B4E2-B5BB0BCEFA1E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057400" y="228600"/>
            <a:ext cx="4114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4200" spc="-1" strike="noStrike">
                <a:solidFill>
                  <a:srgbClr val="ffffff"/>
                </a:solidFill>
                <a:latin typeface="Calibri"/>
              </a:rPr>
              <a:t>Final Output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28600" y="1600200"/>
            <a:ext cx="8457840" cy="270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24076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Code: Routing Unit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914400"/>
            <a:ext cx="5119920" cy="356544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assign preferred_direction =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gateway_required ? global_direction   // other cluster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                     </a:t>
            </a: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: xy_direction;      // same cluster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gateway_selector GS (.current_cluster, .dest_cluster,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                     </a:t>
            </a: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.gateway_required);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xy_routing       XY (.current_row, .current_col,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                     </a:t>
            </a: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.dest_row, .dest_col, .direction(xy_direction));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spidergon_routing SP(.current_gateway(current_cluster),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                     </a:t>
            </a: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.dest_gateway(dest_cluster),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                     </a:t>
            </a: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.direction(global_direction));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localparam LOCAL=3'b000, NORTH=3'b001, SOUTH=3'b010,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           </a:t>
            </a:r>
            <a:r>
              <a:rPr b="0" lang="en-US" sz="900" spc="-1" strike="noStrike">
                <a:solidFill>
                  <a:srgbClr val="e8f6f7"/>
                </a:solidFill>
                <a:latin typeface="Consolas"/>
                <a:ea typeface="Consolas"/>
              </a:rPr>
              <a:t>EAST=3'b011,  WEST=3'b100,  GATEWAY=3'b101;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5577840" y="914400"/>
            <a:ext cx="31082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This mux is the heart of two-tier routing.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Same cluster: XY.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Different cluster: Spidergon direction toward gateway.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adaptive_routing and congestion_checker are instantiated too; the final route uses the deterministic path.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sldNum" idx="18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9E89CE6-2F2D-4AC7-9B03-47F8D51440DF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Code: Round-Robin Arbiter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57200" y="914400"/>
            <a:ext cx="5119920" cy="356544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// search starts after last winner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for (i = 1; i &lt;= NUM_PORTS; i = i + 1) begin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index = last_grant + i;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if (index &gt;= NUM_PORTS) index = index - NUM_PORTS;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if (!found &amp;&amp; request[index]) begin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     </a:t>
            </a: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grant[index] = 1'b1;  found = 1'b1;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end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end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always @(posedge clk or posedge rst)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if (rst) last_grant &lt;= 3'd5;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8f6f7"/>
                </a:solidFill>
                <a:latin typeface="Consolas"/>
                <a:ea typeface="Consolas"/>
              </a:rPr>
              <a:t>else if (|grant) last_grant &lt;= winning_index;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577840" y="914400"/>
            <a:ext cx="31082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last_grant register rotates priority.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Prevents starvation, unlike fixed priority.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One arbiter per output port inside arbiter_bank.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sldNum" idx="19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B94010B-5A56-47B0-9D43-ADBAD7008B3C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11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5577840" y="914400"/>
            <a:ext cx="310824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sldNum" idx="20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6A1352A-E604-486C-B429-9BFA33F6459D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3" name="Content Placeholder 3"/>
          <p:cNvGraphicFramePr/>
          <p:nvPr/>
        </p:nvGraphicFramePr>
        <p:xfrm>
          <a:off x="212400" y="1166400"/>
          <a:ext cx="8493480" cy="3337920"/>
        </p:xfrm>
        <a:graphic>
          <a:graphicData uri="http://schemas.openxmlformats.org/drawingml/2006/table">
            <a:tbl>
              <a:tblPr/>
              <a:tblGrid>
                <a:gridCol w="4246920"/>
                <a:gridCol w="4246920"/>
              </a:tblGrid>
              <a:tr h="424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Arbiter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Problem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0803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Fixed priority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The highest-priority input can repeatedly win.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Which causes starvation.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Random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Less predicable, more complicated and requires random selection logic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0807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Age based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Requires storage of packet waiting time, more hardware &amp; complexity and more states have to be tracked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4" name=""/>
          <p:cNvSpPr/>
          <p:nvPr/>
        </p:nvSpPr>
        <p:spPr>
          <a:xfrm>
            <a:off x="2286000" y="228600"/>
            <a:ext cx="45716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Why we chose Round Robin over others?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Code: Packet Definitions and Hop Model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457200" y="914400"/>
            <a:ext cx="8137440" cy="23767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`define PACKET_WIDTH  48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`define CLUSTER_BITS  2   `define ROW_BITS 2   `define COL_BITS 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`define TYPE_BITS     2   `define PRIORITY_BITS 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`define PAYLOAD_BITS  32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`define NUM_CLUSTERS  4   `define ROUTER_PORTS 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`define LOCAL 3'b000  `define NORTH 3'b001  `define SOUTH 3'b010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`define EAST  3'b011  `define WEST  3'b100  `define GATEWAY 3'b101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// noc_v2_hybrid_hop_calculator: src-&gt;(0,0), (0,0)-&gt;dst,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// and local hops via three hop_calculator instances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457200" y="3474720"/>
            <a:ext cx="81374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Single definitions file keeps all modules consistent.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sldNum" idx="21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5898573-684B-4782-83E5-71D4E1C8AB3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Problems Found During Design and Fixes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0" name="Table 0"/>
          <p:cNvGraphicFramePr/>
          <p:nvPr/>
        </p:nvGraphicFramePr>
        <p:xfrm>
          <a:off x="457200" y="914400"/>
          <a:ext cx="8137800" cy="2325240"/>
        </p:xfrm>
        <a:graphic>
          <a:graphicData uri="http://schemas.openxmlformats.org/drawingml/2006/table">
            <a:tbl>
              <a:tblPr/>
              <a:tblGrid>
                <a:gridCol w="4023360"/>
                <a:gridCol w="411480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Fixed-priority arbiter starved low-priority ports toward the gateway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Rotating round-robin arbiter with persistent last_grant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Separate gateway routers add area, extra hop, routing tables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R0 doubles as gateway through a 6th GATEWAY port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Gateway interface mismatches and missing ports during integration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Ports added and wiring corrected in mesh_4x4_v2 / hybrid_noc_v2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Include-path problems across folders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Single noc_defines.vh included by all modules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01" name="Text 1"/>
          <p:cNvSpPr/>
          <p:nvPr/>
        </p:nvSpPr>
        <p:spPr>
          <a:xfrm>
            <a:off x="457200" y="3657600"/>
            <a:ext cx="1465920" cy="73080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Failure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1923840" y="391356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2125080" y="3657600"/>
            <a:ext cx="1465920" cy="73080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Log / waveform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3591720" y="391356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3792960" y="3657600"/>
            <a:ext cx="1465920" cy="73080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Find module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5259600" y="391356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5460840" y="3657600"/>
            <a:ext cx="1465920" cy="73080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Fix RTL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6927480" y="391356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7128720" y="3657600"/>
            <a:ext cx="1465920" cy="730800"/>
          </a:xfrm>
          <a:prstGeom prst="roundRect">
            <a:avLst>
              <a:gd name="adj" fmla="val 10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Re-run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sldNum" idx="22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B303EF7-1757-4D9E-A6DF-DD337F55A003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Packet Flow Example: C0/R0 to C2/R3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57200" y="1097280"/>
            <a:ext cx="1465920" cy="91368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C0/R0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923840" y="144468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2125080" y="1097280"/>
            <a:ext cx="1465920" cy="91368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C0 Gateway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3591720" y="144468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3792960" y="1097280"/>
            <a:ext cx="1465920" cy="91368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Global link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5259600" y="144468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460840" y="1097280"/>
            <a:ext cx="1465920" cy="91368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C2 Gateway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6927480" y="1444680"/>
            <a:ext cx="200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7128720" y="1097280"/>
            <a:ext cx="1465920" cy="91368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C2/R3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457200" y="2377440"/>
            <a:ext cx="81374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Source router sees dest_cluster different, so routing_unit selects the global direction toward the gateway.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Packet crosses the C0 to C2 opposite link in global_network_4cluster.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Destination gateway sees dest_cluster equal to its own and switches to XY routing into C2.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sldNum" idx="23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2D2CAB2-E238-4C02-9460-742146E4603E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457200" y="2286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Review 2 – Conclusion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457200" y="1097280"/>
            <a:ext cx="81374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Complete RTL for the 64-router hybrid NoC written: router, cluster, global network and top level.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Elaborated schematics confirm the intended hierarchy from top level down to port level.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Key mechanisms implemented: two-tier routing mux, round-robin arbitration, 6x6 crossbar, gateway port.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Next (Review 3): verification results, performance metrics and FPGA prototyping.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24"/>
          </p:nvPr>
        </p:nvSpPr>
        <p:spPr>
          <a:xfrm>
            <a:off x="365760" y="4800600"/>
            <a:ext cx="54792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820B814-193B-45B5-BDB6-3C03829BE2E3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IT Teal">
  <a:themeElements>
    <a:clrScheme name="VIT Teal">
      <a:dk1>
        <a:srgbClr val="0b2e36"/>
      </a:dk1>
      <a:lt1>
        <a:srgbClr val="ffffff"/>
      </a:lt1>
      <a:dk2>
        <a:srgbClr val="0e3a45"/>
      </a:dk2>
      <a:lt2>
        <a:srgbClr val="d6eef0"/>
      </a:lt2>
      <a:accent1>
        <a:srgbClr val="f2b134"/>
      </a:accent1>
      <a:accent2>
        <a:srgbClr val="1b8a9a"/>
      </a:accent2>
      <a:accent3>
        <a:srgbClr val="b3121b"/>
      </a:accent3>
      <a:accent4>
        <a:srgbClr val="6fc3cf"/>
      </a:accent4>
      <a:accent5>
        <a:srgbClr val="7a9ea5"/>
      </a:accent5>
      <a:accent6>
        <a:srgbClr val="3c6e78"/>
      </a:accent6>
      <a:hlink>
        <a:srgbClr val="6fc3cf"/>
      </a:hlink>
      <a:folHlink>
        <a:srgbClr val="7a9ea5"/>
      </a:folHlink>
    </a:clrScheme>
    <a:fontScheme name="VIT Teal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T Teal">
  <a:themeElements>
    <a:clrScheme name="VIT Teal">
      <a:dk1>
        <a:srgbClr val="0b2e36"/>
      </a:dk1>
      <a:lt1>
        <a:srgbClr val="ffffff"/>
      </a:lt1>
      <a:dk2>
        <a:srgbClr val="0e3a45"/>
      </a:dk2>
      <a:lt2>
        <a:srgbClr val="d6eef0"/>
      </a:lt2>
      <a:accent1>
        <a:srgbClr val="f2b134"/>
      </a:accent1>
      <a:accent2>
        <a:srgbClr val="1b8a9a"/>
      </a:accent2>
      <a:accent3>
        <a:srgbClr val="b3121b"/>
      </a:accent3>
      <a:accent4>
        <a:srgbClr val="6fc3cf"/>
      </a:accent4>
      <a:accent5>
        <a:srgbClr val="7a9ea5"/>
      </a:accent5>
      <a:accent6>
        <a:srgbClr val="3c6e78"/>
      </a:accent6>
      <a:hlink>
        <a:srgbClr val="6fc3cf"/>
      </a:hlink>
      <a:folHlink>
        <a:srgbClr val="7a9ea5"/>
      </a:folHlink>
    </a:clrScheme>
    <a:fontScheme name="VIT Teal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T Teal">
  <a:themeElements>
    <a:clrScheme name="VIT Teal">
      <a:dk1>
        <a:srgbClr val="0b2e36"/>
      </a:dk1>
      <a:lt1>
        <a:srgbClr val="ffffff"/>
      </a:lt1>
      <a:dk2>
        <a:srgbClr val="0e3a45"/>
      </a:dk2>
      <a:lt2>
        <a:srgbClr val="d6eef0"/>
      </a:lt2>
      <a:accent1>
        <a:srgbClr val="f2b134"/>
      </a:accent1>
      <a:accent2>
        <a:srgbClr val="1b8a9a"/>
      </a:accent2>
      <a:accent3>
        <a:srgbClr val="b3121b"/>
      </a:accent3>
      <a:accent4>
        <a:srgbClr val="6fc3cf"/>
      </a:accent4>
      <a:accent5>
        <a:srgbClr val="7a9ea5"/>
      </a:accent5>
      <a:accent6>
        <a:srgbClr val="3c6e78"/>
      </a:accent6>
      <a:hlink>
        <a:srgbClr val="6fc3cf"/>
      </a:hlink>
      <a:folHlink>
        <a:srgbClr val="7a9ea5"/>
      </a:folHlink>
    </a:clrScheme>
    <a:fontScheme name="VIT Teal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2026-10-06T08:41:41Z</dcterms:created>
  <dc:creator>Ravi Teja, John Joyce, Anirudh</dc:creator>
  <dc:description/>
  <dc:language>en-US</dc:language>
  <cp:lastModifiedBy/>
  <dcterms:modified xsi:type="dcterms:W3CDTF">2026-10-07T06:02:31Z</dcterms:modified>
  <cp:revision>22</cp:revision>
  <dc:subject>PptxGenJS Presentation</dc:subject>
  <dc:title>Review 2 - Hybrid NoC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
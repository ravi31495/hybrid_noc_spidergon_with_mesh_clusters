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B6CB2AF-73F3-47F0-B716-EAF48A80014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EC2C04-5D0F-4C60-885E-504829E617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A7476D-2E60-4BCF-ABB2-583225C796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1E1EC1-597E-47D7-B3E1-31C6C0B892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0D0F3B-A5E1-4161-AC26-8878A0CD0A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263EB4-1112-42AF-B9C6-CAA18D5207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Add 2-3 paper references here if your guide expects citations.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AD05AB-BE84-468A-B1BC-708AD43909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9AD805-7847-4740-81C5-0BB440B64E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3C83E-3608-470E-82A0-D59D42867F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157DAE-0CA2-4813-9DAA-76F3A1892C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50D078-1DBA-47E4-BC58-C9944B49A3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FC8AA4-90A4-4C03-BDA7-B40A7813F7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70A66B-73A7-4ADC-8662-958CD9FD2D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D3E551-0CCF-4EC6-A519-9E65B25784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C24EF5-F226-4E71-B2E2-636AA93D85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AC21B4-19B0-43D4-8460-177AB70773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683D63-0904-42CA-A4B8-7BD9FEED10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7B5CE70-9D5A-40DE-AC9E-7E0F2A73859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8275320" y="0"/>
            <a:ext cx="319680" cy="548280"/>
          </a:xfrm>
          <a:prstGeom prst="rect">
            <a:avLst/>
          </a:prstGeom>
          <a:solidFill>
            <a:srgbClr val="b312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E985DE3-FAA8-497C-8A8D-EC39BC3825E8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3931920" y="182880"/>
            <a:ext cx="1279800" cy="1279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image6.png"/>
          <p:cNvPicPr/>
          <p:nvPr/>
        </p:nvPicPr>
        <p:blipFill>
          <a:blip r:embed="rId1"/>
          <a:stretch/>
        </p:blipFill>
        <p:spPr>
          <a:xfrm>
            <a:off x="3977640" y="228600"/>
            <a:ext cx="1188360" cy="1188360"/>
          </a:xfrm>
          <a:prstGeom prst="rect">
            <a:avLst/>
          </a:prstGeom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457200" y="1371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REVIEW 1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40080" y="210312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b134"/>
                </a:solidFill>
                <a:latin typeface="Calibri"/>
              </a:rPr>
              <a:t>Design, Verification and Performance Evaluation of a Hybrid Mesh–Spidergon Network-on-Chip Architecture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120640" y="3154680"/>
            <a:ext cx="35658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Submitted to: Dr. Deepak 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By: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Ravi Teja  23BEC7342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John Joyce  23BEC7335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Anirudh  23BEC7217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sldNum" idx="5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5E0EB4B-AC96-4E06-90DA-8F63DF175C60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Project Background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65760" y="1005840"/>
            <a:ext cx="1521360" cy="868320"/>
          </a:xfrm>
          <a:prstGeom prst="roundRect">
            <a:avLst>
              <a:gd name="adj" fmla="val 8421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More IP cores on one chip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1887480" y="13305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2088360" y="1005840"/>
            <a:ext cx="1521360" cy="868320"/>
          </a:xfrm>
          <a:prstGeom prst="roundRect">
            <a:avLst>
              <a:gd name="adj" fmla="val 8421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Every core must talk to others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3610080" y="13305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3811320" y="1005840"/>
            <a:ext cx="1521360" cy="868320"/>
          </a:xfrm>
          <a:prstGeom prst="roundRect">
            <a:avLst>
              <a:gd name="adj" fmla="val 8421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Dedicated wires / shared bus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5332680" y="13305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5533920" y="1005840"/>
            <a:ext cx="1521360" cy="868320"/>
          </a:xfrm>
          <a:prstGeom prst="roundRect">
            <a:avLst>
              <a:gd name="adj" fmla="val 8421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Wiring, congestion, latency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7055640" y="13305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7256520" y="1005840"/>
            <a:ext cx="1521360" cy="868320"/>
          </a:xfrm>
          <a:prstGeom prst="roundRect">
            <a:avLst>
              <a:gd name="adj" fmla="val 8421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Need structured network: NoC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457200" y="2103120"/>
            <a:ext cx="81378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Modern SoCs integrate tens to hundreds of IP blocks, so on-chip communication, not computation, now limits performance.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A shared bus serializes traffic, so adding cores shrinks the bandwidth each core gets.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Full point-to-point wiring avoids that, but every new IP needs a link to every existing IP, so wires and area grow quickly.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Both fail to scale, which leads to a Network-on-Chip: routers and short links that carry packets between IPs.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A NoC also needs a good topology, which is the question this project answers.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sldNum" idx="6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6434BC6-BD70-4B32-BF69-667B13A8DBBA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Problem Statement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548640" y="914400"/>
            <a:ext cx="8046360" cy="1737000"/>
          </a:xfrm>
          <a:prstGeom prst="roundRect">
            <a:avLst>
              <a:gd name="adj" fmla="val 4211"/>
            </a:avLst>
          </a:prstGeom>
          <a:solidFill>
            <a:srgbClr val="0e3a45">
              <a:alpha val="85000"/>
            </a:srgbClr>
          </a:solidFill>
          <a:ln w="12700">
            <a:solidFill>
              <a:srgbClr val="1b8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640080" y="960120"/>
            <a:ext cx="7863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f2b134"/>
                </a:solidFill>
                <a:latin typeface="Calibri"/>
              </a:rPr>
              <a:t>The problem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ffffff"/>
                </a:solidFill>
                <a:latin typeface="Calibri"/>
              </a:rPr>
              <a:t>In a flat Mesh NoC, packets between distant cores must cross many routers hop by hop, so latency and congestion grow with chip size. A single large Ring/Spidergon shortens global paths but cannot physically scale to many routers. How can a 64-router NoC keep Mesh regularity for local traffic and still give distant clusters short, direct paths?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57200" y="3017520"/>
            <a:ext cx="1883160" cy="1096920"/>
          </a:xfrm>
          <a:prstGeom prst="roundRect">
            <a:avLst>
              <a:gd name="adj" fmla="val 6667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</a:rPr>
              <a:t>More IP cores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2340720" y="34563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2541960" y="3017520"/>
            <a:ext cx="1883160" cy="1096920"/>
          </a:xfrm>
          <a:prstGeom prst="roundRect">
            <a:avLst>
              <a:gd name="adj" fmla="val 6667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</a:rPr>
              <a:t>Long multi-hop paths and congestion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4425840" y="34563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4626720" y="3017520"/>
            <a:ext cx="1883160" cy="1096920"/>
          </a:xfrm>
          <a:prstGeom prst="roundRect">
            <a:avLst>
              <a:gd name="adj" fmla="val 6667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</a:rPr>
              <a:t>Neither pure Mesh nor pure Spidergon fits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6510600" y="34563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6711840" y="3017520"/>
            <a:ext cx="1883160" cy="1096920"/>
          </a:xfrm>
          <a:prstGeom prst="roundRect">
            <a:avLst>
              <a:gd name="adj" fmla="val 6667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</a:rPr>
              <a:t>Hybrid: Mesh clusters + Spidergon-like backbone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sldNum" idx="7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9028BC1-E7C6-48BA-8FDF-DC62D4F091D0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Motivation – Why Hybrid?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0" name="Table 0"/>
          <p:cNvGraphicFramePr/>
          <p:nvPr/>
        </p:nvGraphicFramePr>
        <p:xfrm>
          <a:off x="457200" y="960120"/>
          <a:ext cx="8137800" cy="195048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47472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Topology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Advantage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Bus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Simple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Poor scalability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Ring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Simple global connectivity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Higher latency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Mesh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Regular / scalable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Long global paths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Spidergon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Improved global connectivity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Less suitable as complete local structure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Hybrid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Local regularity + global shortcuts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More complex design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41" name="PlaceHolder 1"/>
          <p:cNvSpPr>
            <a:spLocks noGrp="1"/>
          </p:cNvSpPr>
          <p:nvPr>
            <p:ph type="sldNum" idx="8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9C0F567-1C9F-4F93-8A47-AFFC8CEF0B06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Objectives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457200" y="960120"/>
            <a:ext cx="8137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Design a hybrid NoC architecture; divide it into local mesh clusters.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Connect clusters with Spidergon-like global links.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Design a multi-port router with buffering, routing, arbitration and crossbar.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Implement packet routing and verify routing correctness.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Test simultaneous, contention and burst traffic.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Develop performance-measurement infrastructure (latency, hops, throughput).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Compare the hybrid approach against baseline architectures.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sldNum" idx="9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3AFB744-F6EC-4402-ABB7-53BF9965998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Existing / Related Work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6" name="Table 0"/>
          <p:cNvGraphicFramePr/>
          <p:nvPr/>
        </p:nvGraphicFramePr>
        <p:xfrm>
          <a:off x="457200" y="960120"/>
          <a:ext cx="8137800" cy="184896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Problem it solved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Gap that motivates us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2D Mesh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Regular, easy layout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Long cross-chip paths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Torus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Fewer hops via wrap-around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Long wires, timing issues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Ring / Spidergon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Short global paths (across links)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Poor physical scaling as one big ring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Fat-Tree / Butterfly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High bisection bandwidth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Complex, irregular wiring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Hierarchical / hybrid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Locality + global shortcuts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Our chosen direction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47" name="Text 1"/>
          <p:cNvSpPr/>
          <p:nvPr/>
        </p:nvSpPr>
        <p:spPr>
          <a:xfrm>
            <a:off x="457200" y="3931920"/>
            <a:ext cx="8137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Also surveyed: XY / adaptive routing, round-robin vs fixed vs age-based arbitration, congestion management.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sldNum" idx="10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229E17-1FCB-43C0-932E-138C61D50A27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Proposed Architecture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457200" y="1097280"/>
            <a:ext cx="188316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4×4 Mesh cluster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16 routers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2340720" y="1444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2541960" y="1097280"/>
            <a:ext cx="188316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4 clusters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4425840" y="1444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4626720" y="1097280"/>
            <a:ext cx="188316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Spidergon-like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global network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6510600" y="1444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6711840" y="1097280"/>
            <a:ext cx="188316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64-router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Hybrid NoC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7" name="Table 0"/>
          <p:cNvGraphicFramePr/>
          <p:nvPr/>
        </p:nvGraphicFramePr>
        <p:xfrm>
          <a:off x="1097280" y="2377440"/>
          <a:ext cx="6949080" cy="184896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Clusters / mesh size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 / 4×4 (16 routers per cluster)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Total routers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64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Gateway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Router R0 (0,0) of each cluster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Packet width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48 bits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Router ports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6 (Local, N, S, E, W, Gateway)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58" name="PlaceHolder 1"/>
          <p:cNvSpPr>
            <a:spLocks noGrp="1"/>
          </p:cNvSpPr>
          <p:nvPr>
            <p:ph type="sldNum" idx="11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E69AD28-310F-4A4C-B925-9CC359F104FB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Hybrid Topology Diagram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Image 0" descr="image8.png"/>
          <p:cNvPicPr/>
          <p:nvPr/>
        </p:nvPicPr>
        <p:blipFill>
          <a:blip r:embed="rId1"/>
          <a:stretch/>
        </p:blipFill>
        <p:spPr>
          <a:xfrm>
            <a:off x="1188720" y="868680"/>
            <a:ext cx="6766200" cy="397728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sldNum" idx="12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5B368EF-8DF2-42FB-8111-3CE0A788FC8F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Router Architecture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1463040" y="1783080"/>
            <a:ext cx="1279800" cy="914040"/>
          </a:xfrm>
          <a:prstGeom prst="rect">
            <a:avLst/>
          </a:prstGeom>
          <a:solidFill>
            <a:srgbClr val="1b8a9a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ROUTER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(6x6 crossbar)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1554480" y="1234440"/>
            <a:ext cx="1096920" cy="365400"/>
          </a:xfrm>
          <a:prstGeom prst="roundRect">
            <a:avLst>
              <a:gd name="adj" fmla="val 12500"/>
            </a:avLst>
          </a:prstGeom>
          <a:solidFill>
            <a:srgbClr val="0e3a45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NORTH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1554480" y="3246120"/>
            <a:ext cx="1096920" cy="365400"/>
          </a:xfrm>
          <a:prstGeom prst="roundRect">
            <a:avLst>
              <a:gd name="adj" fmla="val 12500"/>
            </a:avLst>
          </a:prstGeom>
          <a:solidFill>
            <a:srgbClr val="0e3a45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SOUTH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274320" y="2057400"/>
            <a:ext cx="1096920" cy="365400"/>
          </a:xfrm>
          <a:prstGeom prst="roundRect">
            <a:avLst>
              <a:gd name="adj" fmla="val 12500"/>
            </a:avLst>
          </a:prstGeom>
          <a:solidFill>
            <a:srgbClr val="0e3a45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WEST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2834640" y="2057400"/>
            <a:ext cx="1096920" cy="365400"/>
          </a:xfrm>
          <a:prstGeom prst="roundRect">
            <a:avLst>
              <a:gd name="adj" fmla="val 12500"/>
            </a:avLst>
          </a:prstGeom>
          <a:solidFill>
            <a:srgbClr val="0e3a45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EAST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274320" y="1234440"/>
            <a:ext cx="1096920" cy="365400"/>
          </a:xfrm>
          <a:prstGeom prst="roundRect">
            <a:avLst>
              <a:gd name="adj" fmla="val 12500"/>
            </a:avLst>
          </a:prstGeom>
          <a:solidFill>
            <a:srgbClr val="0e3a45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LOCAL (IP)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2834640" y="3246120"/>
            <a:ext cx="1096920" cy="365400"/>
          </a:xfrm>
          <a:prstGeom prst="roundRect">
            <a:avLst>
              <a:gd name="adj" fmla="val 12500"/>
            </a:avLst>
          </a:prstGeom>
          <a:solidFill>
            <a:srgbClr val="0e3a45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GATEWAY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4572000" y="1280160"/>
            <a:ext cx="41144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f2b134"/>
                </a:solidFill>
                <a:latin typeface="Calibri"/>
              </a:rPr>
              <a:t>Five local ports: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Local, North, South, East, West.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f2b134"/>
                </a:solidFill>
                <a:latin typeface="Calibri"/>
              </a:rPr>
              <a:t>Gateway port: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6th port added to R0 of each cluster for global traffic.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f2b134"/>
                </a:solidFill>
                <a:latin typeface="Calibri"/>
              </a:rPr>
              <a:t>Why: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no extra gateway router → zero additional router hardware and no extra hop.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sldNum" idx="13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667C0E3-9D69-4787-A2DB-B03904F0CE5E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Packet Format (48 bits)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457200" y="1097280"/>
            <a:ext cx="711720" cy="594000"/>
          </a:xfrm>
          <a:prstGeom prst="rect">
            <a:avLst/>
          </a:prstGeom>
          <a:solidFill>
            <a:srgbClr val="1b8a9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1169280" y="1097280"/>
            <a:ext cx="711720" cy="594000"/>
          </a:xfrm>
          <a:prstGeom prst="rect">
            <a:avLst/>
          </a:prstGeom>
          <a:solidFill>
            <a:srgbClr val="1b8a9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1881360" y="1097280"/>
            <a:ext cx="711720" cy="594000"/>
          </a:xfrm>
          <a:prstGeom prst="rect">
            <a:avLst/>
          </a:prstGeom>
          <a:solidFill>
            <a:srgbClr val="1b8a9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DCol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2593440" y="1097280"/>
            <a:ext cx="711720" cy="594000"/>
          </a:xfrm>
          <a:prstGeom prst="rect">
            <a:avLst/>
          </a:prstGeom>
          <a:solidFill>
            <a:srgbClr val="3c6e7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3305520" y="1097280"/>
            <a:ext cx="711720" cy="594000"/>
          </a:xfrm>
          <a:prstGeom prst="rect">
            <a:avLst/>
          </a:prstGeom>
          <a:solidFill>
            <a:srgbClr val="3c6e7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4017600" y="1097280"/>
            <a:ext cx="711720" cy="594000"/>
          </a:xfrm>
          <a:prstGeom prst="rect">
            <a:avLst/>
          </a:prstGeom>
          <a:solidFill>
            <a:srgbClr val="3c6e7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SCol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4729680" y="1097280"/>
            <a:ext cx="711720" cy="594000"/>
          </a:xfrm>
          <a:prstGeom prst="rect">
            <a:avLst/>
          </a:prstGeom>
          <a:solidFill>
            <a:srgbClr val="7a5c1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Type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5441760" y="1097280"/>
            <a:ext cx="711720" cy="594000"/>
          </a:xfrm>
          <a:prstGeom prst="rect">
            <a:avLst/>
          </a:prstGeom>
          <a:solidFill>
            <a:srgbClr val="7a5c1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Pri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6153840" y="1097280"/>
            <a:ext cx="2441160" cy="594000"/>
          </a:xfrm>
          <a:prstGeom prst="rect">
            <a:avLst/>
          </a:prstGeom>
          <a:solidFill>
            <a:srgbClr val="0e3a4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Payload[31:0]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32 bits (txn ID in metrics)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457200" y="1755720"/>
            <a:ext cx="8137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de9ec"/>
                </a:solidFill>
                <a:latin typeface="Calibri"/>
              </a:rPr>
              <a:t>Destination (cluster/row/col)  |  Source (cluster/row/col)  |  Type, Priority  |  Payload — total 48 bits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3" name="Table 0"/>
          <p:cNvGraphicFramePr/>
          <p:nvPr/>
        </p:nvGraphicFramePr>
        <p:xfrm>
          <a:off x="457200" y="2331720"/>
          <a:ext cx="8137800" cy="14652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438912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Bits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Dest cluster / row / col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 / 2 / 2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 router address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Source cluster / row / col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 / 2 / 2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Origin address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Type, Priority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 / 2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Packet class, arbitration priority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Payload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32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Data (later reused as transaction ID by metrics monitor)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84" name="PlaceHolder 1"/>
          <p:cNvSpPr>
            <a:spLocks noGrp="1"/>
          </p:cNvSpPr>
          <p:nvPr>
            <p:ph type="sldNum" idx="14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8514D0D-28E3-4F26-8689-4504609FA03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Routing Methodology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457200" y="1005840"/>
            <a:ext cx="393156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85000"/>
            </a:srgbClr>
          </a:solidFill>
          <a:ln w="12700">
            <a:solidFill>
              <a:srgbClr val="1b8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548640" y="105156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2b134"/>
                </a:solidFill>
                <a:latin typeface="Calibri"/>
              </a:rPr>
              <a:t>Same cluster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</a:rPr>
              <a:t>XY routing inside the 4×4 mesh.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457200" y="2286000"/>
            <a:ext cx="1466280" cy="73116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Source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1923840" y="25419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2125080" y="2286000"/>
            <a:ext cx="1466280" cy="73116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Gateway R0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3591720" y="25419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3792960" y="2286000"/>
            <a:ext cx="1466280" cy="73116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Global network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5259600" y="25419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5460840" y="2286000"/>
            <a:ext cx="1466280" cy="73116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Dest gateway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6927480" y="25419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7128720" y="2286000"/>
            <a:ext cx="1466280" cy="73116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XY to dest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4663440" y="1005840"/>
            <a:ext cx="393156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85000"/>
            </a:srgbClr>
          </a:solidFill>
          <a:ln w="12700">
            <a:solidFill>
              <a:srgbClr val="1b8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4754880" y="105156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2b134"/>
                </a:solidFill>
                <a:latin typeface="Calibri"/>
              </a:rPr>
              <a:t>Different cluster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</a:rPr>
              <a:t>Go to gateway → cross global link → destination gateway → XY.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4"/>
          <p:cNvSpPr/>
          <p:nvPr/>
        </p:nvSpPr>
        <p:spPr>
          <a:xfrm>
            <a:off x="457200" y="3291840"/>
            <a:ext cx="8137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Local hops: |Sr−Dr| + |Sc−Dc|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Inter-cluster hops: Sr + Sc + 1 + Dr + Dc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sldNum" idx="15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3D138B-76D3-46C0-8654-C16E60A6D9FD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Design Flow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365760" y="146304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Architecture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1395000" y="18561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1596240" y="146304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RTL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2625480" y="18561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2826720" y="146304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Module verification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3856320" y="18561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4057200" y="146304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Integration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5086800" y="18561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5287680" y="146304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Simulation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6317280" y="18561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6518520" y="146304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Debugging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7547760" y="18561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7749000" y="146304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System verification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457200" y="3108960"/>
            <a:ext cx="8137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Tools: Verilog HDL, Vivado XSim.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sldNum" idx="16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30FBF82-2AF9-4F60-9418-CECE049D27B3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Expected Contributions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457200" y="960120"/>
            <a:ext cx="8137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Hybrid Mesh + Spidergon-like topology implementation.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64-router architecture (4 × 4×4 clusters).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Gateway-based inter-cluster communication.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Complete RTL implementation.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Comprehensive verification (exhaustive + stress).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Performance-measurement infrastructure and topology comparison.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sldNum" idx="17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CE2AA2A-8996-4268-AEE8-ACA1747A9C6E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Planning / Timeline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21" name="Table 0"/>
          <p:cNvGraphicFramePr/>
          <p:nvPr/>
        </p:nvGraphicFramePr>
        <p:xfrm>
          <a:off x="457200" y="1097280"/>
          <a:ext cx="8137800" cy="1300320"/>
        </p:xfrm>
        <a:graphic>
          <a:graphicData uri="http://schemas.openxmlformats.org/drawingml/2006/table">
            <a:tbl>
              <a:tblPr/>
              <a:tblGrid>
                <a:gridCol w="1371600"/>
                <a:gridCol w="4937760"/>
                <a:gridCol w="182880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Review 1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Problem, literature, architecture, methodology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This review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Review 2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RTL, integration, functional verification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Planned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Review 3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Verification recap, metrics, benchmarking, comparison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Planned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122" name="PlaceHolder 1"/>
          <p:cNvSpPr>
            <a:spLocks noGrp="1"/>
          </p:cNvSpPr>
          <p:nvPr>
            <p:ph type="sldNum" idx="18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F62E08E-3A6B-4998-A3AE-A46DE956A3FB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Finalized Idea: the Full NoC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" name="Image 0" descr="image8.png"/>
          <p:cNvPicPr/>
          <p:nvPr/>
        </p:nvPicPr>
        <p:blipFill>
          <a:blip r:embed="rId1"/>
          <a:stretch/>
        </p:blipFill>
        <p:spPr>
          <a:xfrm>
            <a:off x="365760" y="868680"/>
            <a:ext cx="4845960" cy="2861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25" name="Table 0"/>
          <p:cNvGraphicFramePr/>
          <p:nvPr/>
        </p:nvGraphicFramePr>
        <p:xfrm>
          <a:off x="5303520" y="868680"/>
          <a:ext cx="3474360" cy="240624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Final decision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Topology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 Mesh clusters + Spidergon-like global links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 x (4x4) = 64 routers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Gateway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R0 (0,0) of every cluster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Global links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Ring + opposite (C0-C2, C1-C3)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Router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6 ports, buffers, arbiter, crossbar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Packet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48 bit, 32-bit payload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Routing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XY local, gateway-directed global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126" name="Text 1"/>
          <p:cNvSpPr/>
          <p:nvPr/>
        </p:nvSpPr>
        <p:spPr>
          <a:xfrm>
            <a:off x="457200" y="41148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2b134"/>
                </a:solidFill>
                <a:latin typeface="Calibri"/>
              </a:rPr>
              <a:t>Architecture frozen; RTL implementation starts in Review 2.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sldNum" idx="19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22CFBEB-CEE3-4FFE-9277-10A8CF495E54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Review 1 – Conclusion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457200" y="1097280"/>
            <a:ext cx="81378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Problem defined: scalable low-hop communication for 64 cores.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Hybrid topology chosen and justified against Bus, Ring, Mesh, Torus, Spidergon.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Full NoC architecture finalized (64 routers, 6-port routers, 48-bit packets, gateway-based routing).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Next: RTL implementation and integration (Review 2).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sldNum" idx="20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433D970-B57F-4DEB-A25C-6E36115273A3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IT Teal">
  <a:themeElements>
    <a:clrScheme name="VIT Teal">
      <a:dk1>
        <a:srgbClr val="0b2e36"/>
      </a:dk1>
      <a:lt1>
        <a:srgbClr val="ffffff"/>
      </a:lt1>
      <a:dk2>
        <a:srgbClr val="0e3a45"/>
      </a:dk2>
      <a:lt2>
        <a:srgbClr val="d6eef0"/>
      </a:lt2>
      <a:accent1>
        <a:srgbClr val="f2b134"/>
      </a:accent1>
      <a:accent2>
        <a:srgbClr val="1b8a9a"/>
      </a:accent2>
      <a:accent3>
        <a:srgbClr val="b3121b"/>
      </a:accent3>
      <a:accent4>
        <a:srgbClr val="6fc3cf"/>
      </a:accent4>
      <a:accent5>
        <a:srgbClr val="7a9ea5"/>
      </a:accent5>
      <a:accent6>
        <a:srgbClr val="3c6e78"/>
      </a:accent6>
      <a:hlink>
        <a:srgbClr val="6fc3cf"/>
      </a:hlink>
      <a:folHlink>
        <a:srgbClr val="7a9ea5"/>
      </a:folHlink>
    </a:clrScheme>
    <a:fontScheme name="VIT Teal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T Teal">
  <a:themeElements>
    <a:clrScheme name="VIT Teal">
      <a:dk1>
        <a:srgbClr val="0b2e36"/>
      </a:dk1>
      <a:lt1>
        <a:srgbClr val="ffffff"/>
      </a:lt1>
      <a:dk2>
        <a:srgbClr val="0e3a45"/>
      </a:dk2>
      <a:lt2>
        <a:srgbClr val="d6eef0"/>
      </a:lt2>
      <a:accent1>
        <a:srgbClr val="f2b134"/>
      </a:accent1>
      <a:accent2>
        <a:srgbClr val="1b8a9a"/>
      </a:accent2>
      <a:accent3>
        <a:srgbClr val="b3121b"/>
      </a:accent3>
      <a:accent4>
        <a:srgbClr val="6fc3cf"/>
      </a:accent4>
      <a:accent5>
        <a:srgbClr val="7a9ea5"/>
      </a:accent5>
      <a:accent6>
        <a:srgbClr val="3c6e78"/>
      </a:accent6>
      <a:hlink>
        <a:srgbClr val="6fc3cf"/>
      </a:hlink>
      <a:folHlink>
        <a:srgbClr val="7a9ea5"/>
      </a:folHlink>
    </a:clrScheme>
    <a:fontScheme name="VIT Teal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2026-10-06T08:40:54Z</dcterms:created>
  <dc:creator>Ravi Teja, John Joyce, Anirudh</dc:creator>
  <dc:description/>
  <dc:language>en-US</dc:language>
  <cp:lastModifiedBy/>
  <dcterms:modified xsi:type="dcterms:W3CDTF">2026-10-06T15:54:31Z</dcterms:modified>
  <cp:revision>3</cp:revision>
  <dc:subject>PptxGenJS Presentation</dc:subject>
  <dc:title>Review 1 - Hybrid NoC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
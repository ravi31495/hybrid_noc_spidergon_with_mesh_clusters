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media/image3.png" ContentType="image/pn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4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19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7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_rels/notesSlide24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2.xml.rels" ContentType="application/vnd.openxmlformats-package.relationships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pc="-1" strike="noStrike">
                <a:solidFill>
                  <a:srgbClr val="ffffff"/>
                </a:solidFill>
                <a:latin typeface="Calibri"/>
              </a:defRPr>
            </a:pPr>
            <a:r>
              <a:rPr b="0" sz="1300" spc="-1" strike="noStrike">
                <a:solidFill>
                  <a:srgbClr val="ffffff"/>
                </a:solidFill>
                <a:latin typeface="Calibri"/>
              </a:rPr>
              <a:t>Measured in simulation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Avg latency (cycles)</c:v>
                </c:pt>
              </c:strCache>
            </c:strRef>
          </c:tx>
          <c:spPr>
            <a:solidFill>
              <a:srgbClr val="f2b134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100" spc="-1" strike="noStrik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"/>
                <c:pt idx="0">
                  <c:v>Local</c:v>
                </c:pt>
                <c:pt idx="1">
                  <c:v>Inter-cluster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8</c:v>
                </c:pt>
                <c:pt idx="1">
                  <c:v>11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Avg hops</c:v>
                </c:pt>
              </c:strCache>
            </c:strRef>
          </c:tx>
          <c:spPr>
            <a:solidFill>
              <a:srgbClr val="6fc3cf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100" spc="-1" strike="noStrik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"/>
                <c:pt idx="0">
                  <c:v>Local</c:v>
                </c:pt>
                <c:pt idx="1">
                  <c:v>Inter-cluster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2"/>
                <c:pt idx="0">
                  <c:v>3</c:v>
                </c:pt>
                <c:pt idx="1">
                  <c:v>4</c:v>
                </c:pt>
              </c:numCache>
            </c:numRef>
          </c:val>
        </c:ser>
        <c:gapWidth val="150"/>
        <c:overlap val="0"/>
        <c:axId val="35722494"/>
        <c:axId val="10842388"/>
      </c:barChart>
      <c:catAx>
        <c:axId val="3572249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100" spc="-1" strike="noStrike">
                <a:solidFill>
                  <a:srgbClr val="ffffff"/>
                </a:solidFill>
                <a:latin typeface="Calibri"/>
              </a:defRPr>
            </a:pPr>
          </a:p>
        </c:txPr>
        <c:crossAx val="10842388"/>
        <c:crosses val="autoZero"/>
        <c:auto val="1"/>
        <c:lblAlgn val="ctr"/>
        <c:lblOffset val="100"/>
        <c:noMultiLvlLbl val="0"/>
      </c:catAx>
      <c:valAx>
        <c:axId val="10842388"/>
        <c:scaling>
          <c:orientation val="minMax"/>
          <c:max val="14"/>
        </c:scaling>
        <c:delete val="0"/>
        <c:axPos val="l"/>
        <c:majorGridlines>
          <c:spPr>
            <a:ln w="6480">
              <a:solidFill>
                <a:srgbClr val="3c6e7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ffffff"/>
                </a:solidFill>
                <a:latin typeface="Calibri"/>
              </a:defRPr>
            </a:pPr>
          </a:p>
        </c:txPr>
        <c:crossAx val="35722494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100" spc="-1" strike="noStrike">
              <a:solidFill>
                <a:srgbClr val="ffffff"/>
              </a:solidFill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pc="-1" strike="noStrike">
                <a:solidFill>
                  <a:srgbClr val="ffffff"/>
                </a:solidFill>
                <a:latin typeface="Calibri"/>
              </a:defRPr>
            </a:pPr>
            <a:r>
              <a:rPr b="0" sz="1300" spc="-1" strike="noStrike">
                <a:solidFill>
                  <a:srgbClr val="ffffff"/>
                </a:solidFill>
                <a:latin typeface="Calibri"/>
              </a:rPr>
              <a:t>Average hops (all pairs)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Average hops</c:v>
                </c:pt>
              </c:strCache>
            </c:strRef>
          </c:tx>
          <c:spPr>
            <a:solidFill>
              <a:srgbClr val="f2b134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f2b134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6fc3cf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b3121b"/>
              </a:solidFill>
              <a:ln w="0">
                <a:noFill/>
              </a:ln>
            </c:spPr>
          </c:dPt>
          <c:dLbls>
            <c:numFmt formatCode="#,##0" sourceLinked="0"/>
            <c:dLbl>
              <c:idx val="0"/>
              <c:numFmt formatCode="#,##0" sourceLinked="0"/>
              <c:txPr>
                <a:bodyPr wrap="square"/>
                <a:lstStyle/>
                <a:p>
                  <a:pPr>
                    <a:defRPr b="0" sz="1100" spc="-1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" sourceLinked="0"/>
              <c:txPr>
                <a:bodyPr wrap="square"/>
                <a:lstStyle/>
                <a:p>
                  <a:pPr>
                    <a:defRPr b="0" sz="1100" spc="-1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#,##0" sourceLinked="0"/>
              <c:txPr>
                <a:bodyPr wrap="square"/>
                <a:lstStyle/>
                <a:p>
                  <a:pPr>
                    <a:defRPr b="0" sz="1100" spc="-1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100" spc="-1" strike="noStrik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Hybrid</c:v>
                </c:pt>
                <c:pt idx="1">
                  <c:v>Mesh 8x8</c:v>
                </c:pt>
                <c:pt idx="2">
                  <c:v>Spidergon-64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5.97</c:v>
                </c:pt>
                <c:pt idx="1">
                  <c:v>5.33</c:v>
                </c:pt>
                <c:pt idx="2">
                  <c:v>8.62</c:v>
                </c:pt>
              </c:numCache>
            </c:numRef>
          </c:val>
        </c:ser>
        <c:gapWidth val="150"/>
        <c:overlap val="0"/>
        <c:axId val="45199739"/>
        <c:axId val="25548312"/>
      </c:barChart>
      <c:catAx>
        <c:axId val="4519973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100" spc="-1" strike="noStrike">
                <a:solidFill>
                  <a:srgbClr val="ffffff"/>
                </a:solidFill>
                <a:latin typeface="Calibri"/>
              </a:defRPr>
            </a:pPr>
          </a:p>
        </c:txPr>
        <c:crossAx val="25548312"/>
        <c:crosses val="autoZero"/>
        <c:auto val="1"/>
        <c:lblAlgn val="ctr"/>
        <c:lblOffset val="100"/>
        <c:noMultiLvlLbl val="0"/>
      </c:catAx>
      <c:valAx>
        <c:axId val="25548312"/>
        <c:scaling>
          <c:orientation val="minMax"/>
          <c:max val="10"/>
        </c:scaling>
        <c:delete val="0"/>
        <c:axPos val="l"/>
        <c:majorGridlines>
          <c:spPr>
            <a:ln w="6480">
              <a:solidFill>
                <a:srgbClr val="3c6e7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ffffff"/>
                </a:solidFill>
                <a:latin typeface="Calibri"/>
              </a:defRPr>
            </a:pPr>
          </a:p>
        </c:txPr>
        <c:crossAx val="45199739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pc="-1" strike="noStrike">
                <a:solidFill>
                  <a:srgbClr val="ffffff"/>
                </a:solidFill>
                <a:latin typeface="Calibri"/>
              </a:defRPr>
            </a:pPr>
            <a:r>
              <a:rPr b="0" sz="1300" spc="-1" strike="noStrike">
                <a:solidFill>
                  <a:srgbClr val="ffffff"/>
                </a:solidFill>
                <a:latin typeface="Calibri"/>
              </a:rPr>
              <a:t>Worst-case hops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Worst case</c:v>
                </c:pt>
              </c:strCache>
            </c:strRef>
          </c:tx>
          <c:spPr>
            <a:solidFill>
              <a:srgbClr val="6fc3cf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100" spc="-1" strike="noStrik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Hybrid</c:v>
                </c:pt>
                <c:pt idx="1">
                  <c:v>Mesh 8x8</c:v>
                </c:pt>
                <c:pt idx="2">
                  <c:v>Spidergon-64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14</c:v>
                </c:pt>
                <c:pt idx="2">
                  <c:v>16</c:v>
                </c:pt>
              </c:numCache>
            </c:numRef>
          </c:val>
        </c:ser>
        <c:gapWidth val="150"/>
        <c:overlap val="0"/>
        <c:axId val="43671511"/>
        <c:axId val="46281181"/>
      </c:barChart>
      <c:catAx>
        <c:axId val="4367151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100" spc="-1" strike="noStrike">
                <a:solidFill>
                  <a:srgbClr val="ffffff"/>
                </a:solidFill>
                <a:latin typeface="Calibri"/>
              </a:defRPr>
            </a:pPr>
          </a:p>
        </c:txPr>
        <c:crossAx val="46281181"/>
        <c:crosses val="autoZero"/>
        <c:auto val="1"/>
        <c:lblAlgn val="ctr"/>
        <c:lblOffset val="100"/>
        <c:noMultiLvlLbl val="0"/>
      </c:catAx>
      <c:valAx>
        <c:axId val="46281181"/>
        <c:scaling>
          <c:orientation val="minMax"/>
          <c:max val="18"/>
        </c:scaling>
        <c:delete val="0"/>
        <c:axPos val="l"/>
        <c:majorGridlines>
          <c:spPr>
            <a:ln w="6480">
              <a:solidFill>
                <a:srgbClr val="3c6e7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ffffff"/>
                </a:solidFill>
                <a:latin typeface="Calibri"/>
              </a:defRPr>
            </a:pPr>
          </a:p>
        </c:txPr>
        <c:crossAx val="43671511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pc="-1" strike="noStrike">
                <a:solidFill>
                  <a:srgbClr val="ffffff"/>
                </a:solidFill>
                <a:latin typeface="Calibri"/>
              </a:defRPr>
            </a:pPr>
            <a:r>
              <a:rPr b="0" sz="1300" spc="-1" strike="noStrike">
                <a:solidFill>
                  <a:srgbClr val="ffffff"/>
                </a:solidFill>
                <a:latin typeface="Calibri"/>
              </a:rPr>
              <a:t>Average hops by traffic class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Avg hops</c:v>
                </c:pt>
              </c:strCache>
            </c:strRef>
          </c:tx>
          <c:spPr>
            <a:solidFill>
              <a:srgbClr val="f2b134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f2b134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6fc3cf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b3121b"/>
              </a:solidFill>
              <a:ln w="0">
                <a:noFill/>
              </a:ln>
            </c:spPr>
          </c:dPt>
          <c:dLbls>
            <c:numFmt formatCode="#,##0" sourceLinked="0"/>
            <c:dLbl>
              <c:idx val="0"/>
              <c:numFmt formatCode="#,##0" sourceLinked="0"/>
              <c:txPr>
                <a:bodyPr wrap="square"/>
                <a:lstStyle/>
                <a:p>
                  <a:pPr>
                    <a:defRPr b="0" sz="1100" spc="-1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" sourceLinked="0"/>
              <c:txPr>
                <a:bodyPr wrap="square"/>
                <a:lstStyle/>
                <a:p>
                  <a:pPr>
                    <a:defRPr b="0" sz="1100" spc="-1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#,##0" sourceLinked="0"/>
              <c:txPr>
                <a:bodyPr wrap="square"/>
                <a:lstStyle/>
                <a:p>
                  <a:pPr>
                    <a:defRPr b="0" sz="1100" spc="-1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100" spc="-1" strike="noStrik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Hybrid local</c:v>
                </c:pt>
                <c:pt idx="1">
                  <c:v>Hybrid inter-cluster</c:v>
                </c:pt>
                <c:pt idx="2">
                  <c:v>Mesh 8x8 (all)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2.67</c:v>
                </c:pt>
                <c:pt idx="1">
                  <c:v>7</c:v>
                </c:pt>
                <c:pt idx="2">
                  <c:v>5.33</c:v>
                </c:pt>
              </c:numCache>
            </c:numRef>
          </c:val>
        </c:ser>
        <c:gapWidth val="150"/>
        <c:overlap val="0"/>
        <c:axId val="96536834"/>
        <c:axId val="60209160"/>
      </c:barChart>
      <c:catAx>
        <c:axId val="9653683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100" spc="-1" strike="noStrike">
                <a:solidFill>
                  <a:srgbClr val="ffffff"/>
                </a:solidFill>
                <a:latin typeface="Calibri"/>
              </a:defRPr>
            </a:pPr>
          </a:p>
        </c:txPr>
        <c:crossAx val="60209160"/>
        <c:crosses val="autoZero"/>
        <c:auto val="1"/>
        <c:lblAlgn val="ctr"/>
        <c:lblOffset val="100"/>
        <c:noMultiLvlLbl val="0"/>
      </c:catAx>
      <c:valAx>
        <c:axId val="60209160"/>
        <c:scaling>
          <c:orientation val="minMax"/>
          <c:max val="9"/>
        </c:scaling>
        <c:delete val="0"/>
        <c:axPos val="l"/>
        <c:majorGridlines>
          <c:spPr>
            <a:ln w="6480">
              <a:solidFill>
                <a:srgbClr val="3c6e7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ffffff"/>
                </a:solidFill>
                <a:latin typeface="Calibri"/>
              </a:defRPr>
            </a:pPr>
          </a:p>
        </c:txPr>
        <c:crossAx val="9653683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68B657C-0DA3-4A7D-85A1-B12A37592C5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E8CBB5-CA50-45E1-A37E-DB1780C0E1D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0C91D1-DD2A-41AC-8AB7-6EF43EE3F04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FF5EC5-9A35-400B-B63A-F07CBC745D7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485FD5-3C32-4198-8BB7-292F1B3ABDA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ED55E4-A3DD-4E01-B07E-42D89BA7D82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8F364C-A8D5-411A-AFCB-1A47D9FA0D5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B4B115-CF8F-4039-A360-3159531E79B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F78249-B953-4BD7-BA28-EBEB45C87F2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598A12-1174-4B29-9A5E-7519B0AB279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B0665B-C8EC-4ADC-8218-04EA90713B0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C4448B-EF53-4953-A414-F25F991A731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53345C-6BFF-4002-90FB-EBA81304D8F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41CEDF-D1EB-4F7B-A1E5-3C925A31CF9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C9D1ED-0044-425C-AD64-56E7F0D5661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073D17-5967-4298-89E0-449CF0C841A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91B978-592F-4CD0-B256-5C512DC7D30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02523A-DB19-4C7E-96A6-F619225E5BF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FEA529-6C04-4973-80A7-02196366BCF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: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y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y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_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7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DC884D-1705-44A8-996E-C51831261B6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DE7F62-0563-4892-85B6-5E965ADD22D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D2BB21-669A-4A8D-BAF3-458BCF10CE1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F73E53-E50C-4E64-B121-C34CBE7A1F5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9C1E69-CCF7-487A-B69D-D19D5AB67C1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64D2E1-8D3B-4B54-804D-31F3DAD98E1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DB685C-5E67-4C06-80EF-F925A66C7E1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20BBB4-8CA4-4D53-B324-CCC94F954C7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Latency and throughput for baselines require baseline RTL; listed as next step.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944D05-17C7-42D0-B1A2-25133FF1402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7D5047-57C0-47F0-B8C6-C896DB0DBF3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22F3D8-B663-4636-9909-8C6680BB334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E72A4A-FA7B-4C75-812D-F9AA21BB51A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65EDEC-CB84-41E0-9728-275F5B98AC9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152D12-269C-49BA-97F6-40FA2237271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B64E31-D74B-4713-9D78-3E336FA2824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34067BE-0EF2-4276-ADFF-1BB6E6016BD5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8275320" y="0"/>
            <a:ext cx="319680" cy="548280"/>
          </a:xfrm>
          <a:prstGeom prst="rect">
            <a:avLst/>
          </a:prstGeom>
          <a:solidFill>
            <a:srgbClr val="b312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sldNum" idx="1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12C4260-6160-4877-ACC1-FDAEB6D70F22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3931920" y="182880"/>
            <a:ext cx="1279800" cy="1279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" name="Image 0" descr="image6.png"/>
          <p:cNvPicPr/>
          <p:nvPr/>
        </p:nvPicPr>
        <p:blipFill>
          <a:blip r:embed="rId1"/>
          <a:stretch/>
        </p:blipFill>
        <p:spPr>
          <a:xfrm>
            <a:off x="3977640" y="228600"/>
            <a:ext cx="1188360" cy="1188360"/>
          </a:xfrm>
          <a:prstGeom prst="rect">
            <a:avLst/>
          </a:prstGeom>
          <a:ln w="0">
            <a:noFill/>
          </a:ln>
        </p:spPr>
      </p:pic>
      <p:sp>
        <p:nvSpPr>
          <p:cNvPr id="12" name="Text 1"/>
          <p:cNvSpPr/>
          <p:nvPr/>
        </p:nvSpPr>
        <p:spPr>
          <a:xfrm>
            <a:off x="457200" y="13716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REVIEW 3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640080" y="2103120"/>
            <a:ext cx="7863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2b134"/>
                </a:solidFill>
                <a:latin typeface="Calibri"/>
              </a:rPr>
              <a:t>Design, Verification and Performance Evaluation of a Hybrid Mesh–Spidergon Network-on-Chip Architecture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5120640" y="3154680"/>
            <a:ext cx="35658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de9ec"/>
                </a:solidFill>
                <a:latin typeface="Calibri"/>
              </a:rPr>
              <a:t>Submitted to: Dr. Deepak CH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de9ec"/>
                </a:solidFill>
                <a:latin typeface="Calibri"/>
              </a:rPr>
              <a:t>By: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de9ec"/>
                </a:solidFill>
                <a:latin typeface="Calibri"/>
              </a:rPr>
              <a:t>Ravi Teja  23BEC7342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de9ec"/>
                </a:solidFill>
                <a:latin typeface="Calibri"/>
              </a:rPr>
              <a:t>John Joyce  23BEC7335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de9ec"/>
                </a:solidFill>
                <a:latin typeface="Calibri"/>
              </a:rPr>
              <a:t>Anirudh  23BEC7217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sldNum" idx="5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6669EA5-A912-4D64-AF03-FD79E7AFF5BD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457200" y="1645920"/>
            <a:ext cx="8137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2b134"/>
                </a:solidFill>
                <a:latin typeface="Calibri"/>
              </a:rPr>
              <a:t>A. Recap of Reviews 1 and 2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731520" y="2651760"/>
            <a:ext cx="7680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Why we built it, what we built, how it is structured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sldNum" idx="6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E9E7CF8-105C-4F5A-AFD0-07D6637E9054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Executive Summary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20" name="Table 0"/>
          <p:cNvGraphicFramePr/>
          <p:nvPr/>
        </p:nvGraphicFramePr>
        <p:xfrm>
          <a:off x="457200" y="868680"/>
          <a:ext cx="8137800" cy="2157120"/>
        </p:xfrm>
        <a:graphic>
          <a:graphicData uri="http://schemas.openxmlformats.org/drawingml/2006/table">
            <a:tbl>
              <a:tblPr/>
              <a:tblGrid>
                <a:gridCol w="1371600"/>
                <a:gridCol w="6766560"/>
              </a:tblGrid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Problem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Keep Mesh regularity locally yet give distant cores short global paths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Built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64-router Hybrid NoC: 4 x (4x4) mesh clusters + Spidergon-like global network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Verified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4112 / 4112 functional tests passed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Measured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20/20 packets delivered, 9.5-cycle average latency, 3.5 average hops, 0.3030 packets/cycle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Compared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Analytical hop study of Hybrid vs flat 8x8 Mesh vs 64-node Spidergon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Remains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Offered-load sweeps, baseline RTL, FPGA synthesis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</a:tbl>
          </a:graphicData>
        </a:graphic>
      </p:graphicFrame>
      <p:sp>
        <p:nvSpPr>
          <p:cNvPr id="21" name="PlaceHolder 1"/>
          <p:cNvSpPr>
            <a:spLocks noGrp="1"/>
          </p:cNvSpPr>
          <p:nvPr>
            <p:ph type="sldNum" idx="7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3F383FD-9CB6-4EA8-9047-234F3D11DFB9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Review 1 Recap: Problem and Idea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"/>
          <p:cNvSpPr/>
          <p:nvPr/>
        </p:nvSpPr>
        <p:spPr>
          <a:xfrm>
            <a:off x="457200" y="914400"/>
            <a:ext cx="8137800" cy="1279800"/>
          </a:xfrm>
          <a:prstGeom prst="roundRect">
            <a:avLst>
              <a:gd name="adj" fmla="val 5714"/>
            </a:avLst>
          </a:prstGeom>
          <a:solidFill>
            <a:srgbClr val="0e3a45">
              <a:alpha val="85000"/>
            </a:srgbClr>
          </a:solidFill>
          <a:ln w="12700">
            <a:solidFill>
              <a:srgbClr val="1b8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548640" y="960120"/>
            <a:ext cx="79549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2b134"/>
                </a:solidFill>
                <a:latin typeface="Calibri"/>
              </a:rPr>
              <a:t>Problem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fffff"/>
                </a:solidFill>
                <a:latin typeface="Calibri"/>
              </a:rPr>
              <a:t>In a flat Mesh NoC, distant cores need many hops, and one large Spidergon ring cannot scale physically. A 64-router NoC needs short global paths without losing regularity.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3"/>
          <p:cNvSpPr/>
          <p:nvPr/>
        </p:nvSpPr>
        <p:spPr>
          <a:xfrm>
            <a:off x="457200" y="2468880"/>
            <a:ext cx="1883160" cy="822600"/>
          </a:xfrm>
          <a:prstGeom prst="roundRect">
            <a:avLst>
              <a:gd name="adj" fmla="val 8889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fffff"/>
                </a:solidFill>
                <a:latin typeface="Calibri"/>
              </a:rPr>
              <a:t>More IP cores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2340720" y="277056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5"/>
          <p:cNvSpPr/>
          <p:nvPr/>
        </p:nvSpPr>
        <p:spPr>
          <a:xfrm>
            <a:off x="2541960" y="2468880"/>
            <a:ext cx="1883160" cy="822600"/>
          </a:xfrm>
          <a:prstGeom prst="roundRect">
            <a:avLst>
              <a:gd name="adj" fmla="val 8889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fffff"/>
                </a:solidFill>
                <a:latin typeface="Calibri"/>
              </a:rPr>
              <a:t>Long paths, congestion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4425840" y="277056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4626720" y="2468880"/>
            <a:ext cx="1883160" cy="822600"/>
          </a:xfrm>
          <a:prstGeom prst="roundRect">
            <a:avLst>
              <a:gd name="adj" fmla="val 8889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fffff"/>
                </a:solidFill>
                <a:latin typeface="Calibri"/>
              </a:rPr>
              <a:t>Mesh + Spidergon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8"/>
          <p:cNvSpPr/>
          <p:nvPr/>
        </p:nvSpPr>
        <p:spPr>
          <a:xfrm>
            <a:off x="6510600" y="277056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9"/>
          <p:cNvSpPr/>
          <p:nvPr/>
        </p:nvSpPr>
        <p:spPr>
          <a:xfrm>
            <a:off x="6711840" y="2468880"/>
            <a:ext cx="1883160" cy="822600"/>
          </a:xfrm>
          <a:prstGeom prst="roundRect">
            <a:avLst>
              <a:gd name="adj" fmla="val 8889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fffff"/>
                </a:solidFill>
                <a:latin typeface="Calibri"/>
              </a:rPr>
              <a:t>Hybrid NoC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457200" y="3474720"/>
            <a:ext cx="81378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Literature: Mesh (regular), Torus (long wires), Spidergon (short global paths), hierarchical NoC (locality + backbone).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sldNum" idx="8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E755BAF-4017-44F7-8E51-7D3030AE93E1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Evolution of the Architecture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1"/>
          <p:cNvSpPr/>
          <p:nvPr/>
        </p:nvSpPr>
        <p:spPr>
          <a:xfrm>
            <a:off x="365760" y="1097280"/>
            <a:ext cx="1028880" cy="1005480"/>
          </a:xfrm>
          <a:prstGeom prst="roundRect">
            <a:avLst>
              <a:gd name="adj" fmla="val 7273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Initial concept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2"/>
          <p:cNvSpPr/>
          <p:nvPr/>
        </p:nvSpPr>
        <p:spPr>
          <a:xfrm>
            <a:off x="1395000" y="149040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3"/>
          <p:cNvSpPr/>
          <p:nvPr/>
        </p:nvSpPr>
        <p:spPr>
          <a:xfrm>
            <a:off x="1596240" y="1097280"/>
            <a:ext cx="1028880" cy="1005480"/>
          </a:xfrm>
          <a:prstGeom prst="roundRect">
            <a:avLst>
              <a:gd name="adj" fmla="val 7273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Router design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4"/>
          <p:cNvSpPr/>
          <p:nvPr/>
        </p:nvSpPr>
        <p:spPr>
          <a:xfrm>
            <a:off x="2625480" y="149040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5"/>
          <p:cNvSpPr/>
          <p:nvPr/>
        </p:nvSpPr>
        <p:spPr>
          <a:xfrm>
            <a:off x="2826720" y="1097280"/>
            <a:ext cx="1028880" cy="1005480"/>
          </a:xfrm>
          <a:prstGeom prst="roundRect">
            <a:avLst>
              <a:gd name="adj" fmla="val 7273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Cluster concept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6"/>
          <p:cNvSpPr/>
          <p:nvPr/>
        </p:nvSpPr>
        <p:spPr>
          <a:xfrm>
            <a:off x="3856320" y="149040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7"/>
          <p:cNvSpPr/>
          <p:nvPr/>
        </p:nvSpPr>
        <p:spPr>
          <a:xfrm>
            <a:off x="4057200" y="1097280"/>
            <a:ext cx="1028880" cy="1005480"/>
          </a:xfrm>
          <a:prstGeom prst="roundRect">
            <a:avLst>
              <a:gd name="adj" fmla="val 7273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Gateway concept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8"/>
          <p:cNvSpPr/>
          <p:nvPr/>
        </p:nvSpPr>
        <p:spPr>
          <a:xfrm>
            <a:off x="5086800" y="149040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9"/>
          <p:cNvSpPr/>
          <p:nvPr/>
        </p:nvSpPr>
        <p:spPr>
          <a:xfrm>
            <a:off x="5287680" y="1097280"/>
            <a:ext cx="1028880" cy="1005480"/>
          </a:xfrm>
          <a:prstGeom prst="roundRect">
            <a:avLst>
              <a:gd name="adj" fmla="val 7273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Hybrid topology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10"/>
          <p:cNvSpPr/>
          <p:nvPr/>
        </p:nvSpPr>
        <p:spPr>
          <a:xfrm>
            <a:off x="6317280" y="149040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11"/>
          <p:cNvSpPr/>
          <p:nvPr/>
        </p:nvSpPr>
        <p:spPr>
          <a:xfrm>
            <a:off x="6518520" y="1097280"/>
            <a:ext cx="1028880" cy="1005480"/>
          </a:xfrm>
          <a:prstGeom prst="roundRect">
            <a:avLst>
              <a:gd name="adj" fmla="val 7273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V2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12"/>
          <p:cNvSpPr/>
          <p:nvPr/>
        </p:nvSpPr>
        <p:spPr>
          <a:xfrm>
            <a:off x="7547760" y="149040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13"/>
          <p:cNvSpPr/>
          <p:nvPr/>
        </p:nvSpPr>
        <p:spPr>
          <a:xfrm>
            <a:off x="7749000" y="1097280"/>
            <a:ext cx="1028880" cy="1005480"/>
          </a:xfrm>
          <a:prstGeom prst="roundRect">
            <a:avLst>
              <a:gd name="adj" fmla="val 7273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4x4x4 = 64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14"/>
          <p:cNvSpPr/>
          <p:nvPr/>
        </p:nvSpPr>
        <p:spPr>
          <a:xfrm>
            <a:off x="457200" y="2560320"/>
            <a:ext cx="813780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Router grew from 5 to 6 ports (GATEWAY on R0).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Fixed-priority arbiter replaced by round-robin.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V2: mesh_4x4_v2, global_network_4cluster, hybrid_noc_v2.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sldNum" idx="9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A2214EC-A892-43C7-9091-BC948FE3F4BD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457200" y="1645920"/>
            <a:ext cx="8137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2b134"/>
                </a:solidFill>
                <a:latin typeface="Calibri"/>
              </a:rPr>
              <a:t>B. Final Design and Implementation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731520" y="2651760"/>
            <a:ext cx="7680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Architecture, RTL, schematics and key code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sldNum" idx="10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E9FF038-1D0A-4883-B295-EF49D494338A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Final V2 Architecture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4" name="Image 0" descr="image8.png"/>
          <p:cNvPicPr/>
          <p:nvPr/>
        </p:nvPicPr>
        <p:blipFill>
          <a:blip r:embed="rId1"/>
          <a:stretch/>
        </p:blipFill>
        <p:spPr>
          <a:xfrm>
            <a:off x="457200" y="868680"/>
            <a:ext cx="5120280" cy="301716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55" name="Table 0"/>
          <p:cNvGraphicFramePr/>
          <p:nvPr/>
        </p:nvGraphicFramePr>
        <p:xfrm>
          <a:off x="5760720" y="914400"/>
          <a:ext cx="2925720" cy="194292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</a:tblGrid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Clusters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Mesh / cluster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4x4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Total routers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64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Packet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48 bits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Ports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12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Gateway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R0 (0,0)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</a:tbl>
          </a:graphicData>
        </a:graphic>
      </p:graphicFrame>
      <p:sp>
        <p:nvSpPr>
          <p:cNvPr id="56" name="PlaceHolder 1"/>
          <p:cNvSpPr>
            <a:spLocks noGrp="1"/>
          </p:cNvSpPr>
          <p:nvPr>
            <p:ph type="sldNum" idx="11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660EBA3-ADAF-4573-B959-1C986E772C8D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Packet Format and Routing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457200" y="914400"/>
            <a:ext cx="711720" cy="594000"/>
          </a:xfrm>
          <a:prstGeom prst="rect">
            <a:avLst/>
          </a:prstGeom>
          <a:solidFill>
            <a:srgbClr val="1b8a9a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DC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1169280" y="914400"/>
            <a:ext cx="711720" cy="594000"/>
          </a:xfrm>
          <a:prstGeom prst="rect">
            <a:avLst/>
          </a:prstGeom>
          <a:solidFill>
            <a:srgbClr val="1b8a9a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DR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1881360" y="914400"/>
            <a:ext cx="711720" cy="594000"/>
          </a:xfrm>
          <a:prstGeom prst="rect">
            <a:avLst/>
          </a:prstGeom>
          <a:solidFill>
            <a:srgbClr val="1b8a9a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DCol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2593440" y="914400"/>
            <a:ext cx="711720" cy="594000"/>
          </a:xfrm>
          <a:prstGeom prst="rect">
            <a:avLst/>
          </a:prstGeom>
          <a:solidFill>
            <a:srgbClr val="3c6e78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SC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3305520" y="914400"/>
            <a:ext cx="711720" cy="594000"/>
          </a:xfrm>
          <a:prstGeom prst="rect">
            <a:avLst/>
          </a:prstGeom>
          <a:solidFill>
            <a:srgbClr val="3c6e78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SR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4017600" y="914400"/>
            <a:ext cx="711720" cy="594000"/>
          </a:xfrm>
          <a:prstGeom prst="rect">
            <a:avLst/>
          </a:prstGeom>
          <a:solidFill>
            <a:srgbClr val="3c6e78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SCol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4729680" y="914400"/>
            <a:ext cx="711720" cy="594000"/>
          </a:xfrm>
          <a:prstGeom prst="rect">
            <a:avLst/>
          </a:prstGeom>
          <a:solidFill>
            <a:srgbClr val="7a5c14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Type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8"/>
          <p:cNvSpPr/>
          <p:nvPr/>
        </p:nvSpPr>
        <p:spPr>
          <a:xfrm>
            <a:off x="5441760" y="914400"/>
            <a:ext cx="711720" cy="594000"/>
          </a:xfrm>
          <a:prstGeom prst="rect">
            <a:avLst/>
          </a:prstGeom>
          <a:solidFill>
            <a:srgbClr val="7a5c14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Pri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9"/>
          <p:cNvSpPr/>
          <p:nvPr/>
        </p:nvSpPr>
        <p:spPr>
          <a:xfrm>
            <a:off x="6153840" y="914400"/>
            <a:ext cx="2441160" cy="594000"/>
          </a:xfrm>
          <a:prstGeom prst="rect">
            <a:avLst/>
          </a:prstGeom>
          <a:solidFill>
            <a:srgbClr val="0e3a45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Payload[31:0]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32 bits 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457200" y="1572840"/>
            <a:ext cx="8137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de9ec"/>
                </a:solidFill>
                <a:latin typeface="Calibri"/>
              </a:rPr>
              <a:t>Destination (cluster/row/col)  |  Source (cluster/row/col)  |  Type, Priority  |  Payload — total 48 bits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457200" y="2286000"/>
            <a:ext cx="1466280" cy="822600"/>
          </a:xfrm>
          <a:prstGeom prst="roundRect">
            <a:avLst>
              <a:gd name="adj" fmla="val 8889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Same cluster: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XY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1923840" y="258768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2125080" y="2286000"/>
            <a:ext cx="1466280" cy="822600"/>
          </a:xfrm>
          <a:prstGeom prst="roundRect">
            <a:avLst>
              <a:gd name="adj" fmla="val 8889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Other cluster: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to gateway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14"/>
          <p:cNvSpPr/>
          <p:nvPr/>
        </p:nvSpPr>
        <p:spPr>
          <a:xfrm>
            <a:off x="3591720" y="258768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15"/>
          <p:cNvSpPr/>
          <p:nvPr/>
        </p:nvSpPr>
        <p:spPr>
          <a:xfrm>
            <a:off x="3792960" y="2286000"/>
            <a:ext cx="1466280" cy="822600"/>
          </a:xfrm>
          <a:prstGeom prst="roundRect">
            <a:avLst>
              <a:gd name="adj" fmla="val 8889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Global link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16"/>
          <p:cNvSpPr/>
          <p:nvPr/>
        </p:nvSpPr>
        <p:spPr>
          <a:xfrm>
            <a:off x="5259600" y="258768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5460840" y="2286000"/>
            <a:ext cx="1466280" cy="822600"/>
          </a:xfrm>
          <a:prstGeom prst="roundRect">
            <a:avLst>
              <a:gd name="adj" fmla="val 8889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Dest gateway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18"/>
          <p:cNvSpPr/>
          <p:nvPr/>
        </p:nvSpPr>
        <p:spPr>
          <a:xfrm>
            <a:off x="6927480" y="258768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19"/>
          <p:cNvSpPr/>
          <p:nvPr/>
        </p:nvSpPr>
        <p:spPr>
          <a:xfrm>
            <a:off x="7128720" y="2286000"/>
            <a:ext cx="1466280" cy="822600"/>
          </a:xfrm>
          <a:prstGeom prst="roundRect">
            <a:avLst>
              <a:gd name="adj" fmla="val 8889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XY to dest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20"/>
          <p:cNvSpPr/>
          <p:nvPr/>
        </p:nvSpPr>
        <p:spPr>
          <a:xfrm>
            <a:off x="457200" y="3383280"/>
            <a:ext cx="81378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Routing is deterministic: XY inside a cluster, gateway-directed across clusters.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adaptive_routing.v and congestion_checker.v 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sldNum" idx="12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4A0452A-381A-422A-9F16-A29FF856A7D9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RTL Hierarchy and Files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457200" y="914400"/>
            <a:ext cx="4571640" cy="356580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hybrid_noc_v2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├── </a:t>
            </a: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mesh_4x4_v2 x 4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│    └── </a:t>
            </a: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router x 16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│         </a:t>
            </a: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input_port x6 (buffer, routing_unit, request)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│         </a:t>
            </a: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router_controller (arbiter_bank)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│         </a:t>
            </a: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router_control_logic, crossbar_switch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│         </a:t>
            </a: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output_port x6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├── </a:t>
            </a: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global_network_4cluster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└── </a:t>
            </a: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gateway connections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5212080" y="914400"/>
            <a:ext cx="347436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About 5,300 lines of Verilog in the main RTL folder.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Testbench side: noc_v2_metrics_monitor, noc_v2_hybrid_hop_calculator.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~40 module and integration testbenches plus comprehensive, smoke and metrics-sanity benches.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sldNum" idx="13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F6B1108-436F-41A8-A233-82E0A22AD3B6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Schematics: Top Level and Cluster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Shape 1"/>
          <p:cNvSpPr/>
          <p:nvPr/>
        </p:nvSpPr>
        <p:spPr>
          <a:xfrm>
            <a:off x="329040" y="877680"/>
            <a:ext cx="4187520" cy="267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Image 0" descr="sch1.jpg"/>
          <p:cNvPicPr/>
          <p:nvPr/>
        </p:nvPicPr>
        <p:blipFill>
          <a:blip r:embed="rId1"/>
          <a:stretch/>
        </p:blipFill>
        <p:spPr>
          <a:xfrm>
            <a:off x="365760" y="914400"/>
            <a:ext cx="4114440" cy="2597400"/>
          </a:xfrm>
          <a:prstGeom prst="rect">
            <a:avLst/>
          </a:prstGeom>
          <a:ln w="0">
            <a:noFill/>
          </a:ln>
        </p:spPr>
      </p:pic>
      <p:sp>
        <p:nvSpPr>
          <p:cNvPr id="86" name="Text 2"/>
          <p:cNvSpPr/>
          <p:nvPr/>
        </p:nvSpPr>
        <p:spPr>
          <a:xfrm>
            <a:off x="365760" y="358524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cde9ec"/>
                </a:solidFill>
                <a:latin typeface="Calibri"/>
              </a:rPr>
              <a:t>hybrid_noc_v2 (4 meshes + global network)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3"/>
          <p:cNvSpPr/>
          <p:nvPr/>
        </p:nvSpPr>
        <p:spPr>
          <a:xfrm>
            <a:off x="4626720" y="877680"/>
            <a:ext cx="4187520" cy="267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Image 1" descr="sch2.jpg"/>
          <p:cNvPicPr/>
          <p:nvPr/>
        </p:nvPicPr>
        <p:blipFill>
          <a:blip r:embed="rId2"/>
          <a:stretch/>
        </p:blipFill>
        <p:spPr>
          <a:xfrm>
            <a:off x="4663440" y="914400"/>
            <a:ext cx="4114440" cy="2597400"/>
          </a:xfrm>
          <a:prstGeom prst="rect">
            <a:avLst/>
          </a:prstGeom>
          <a:ln w="0">
            <a:noFill/>
          </a:ln>
        </p:spPr>
      </p:pic>
      <p:sp>
        <p:nvSpPr>
          <p:cNvPr id="89" name="Text 4"/>
          <p:cNvSpPr/>
          <p:nvPr/>
        </p:nvSpPr>
        <p:spPr>
          <a:xfrm>
            <a:off x="4663440" y="358524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cde9ec"/>
                </a:solidFill>
                <a:latin typeface="Calibri"/>
              </a:rPr>
              <a:t>mesh_4x4_v2 (16 routers)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5"/>
          <p:cNvSpPr/>
          <p:nvPr/>
        </p:nvSpPr>
        <p:spPr>
          <a:xfrm>
            <a:off x="914760" y="420624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Elaborated in Vivado 2025.2; hierarchy matches the architecture.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sldNum" idx="14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1C27802-55E2-4297-83D3-CA3F3B678378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Schematics: Router Internals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1"/>
          <p:cNvSpPr/>
          <p:nvPr/>
        </p:nvSpPr>
        <p:spPr>
          <a:xfrm>
            <a:off x="329040" y="877680"/>
            <a:ext cx="4187520" cy="267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Image 0" descr="sch4.jpg"/>
          <p:cNvPicPr/>
          <p:nvPr/>
        </p:nvPicPr>
        <p:blipFill>
          <a:blip r:embed="rId1"/>
          <a:stretch/>
        </p:blipFill>
        <p:spPr>
          <a:xfrm>
            <a:off x="365760" y="914400"/>
            <a:ext cx="4114440" cy="2597400"/>
          </a:xfrm>
          <a:prstGeom prst="rect">
            <a:avLst/>
          </a:prstGeom>
          <a:ln w="0">
            <a:noFill/>
          </a:ln>
        </p:spPr>
      </p:pic>
      <p:sp>
        <p:nvSpPr>
          <p:cNvPr id="95" name="Text 2"/>
          <p:cNvSpPr/>
          <p:nvPr/>
        </p:nvSpPr>
        <p:spPr>
          <a:xfrm>
            <a:off x="365760" y="358524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cde9ec"/>
                </a:solidFill>
                <a:latin typeface="Calibri"/>
              </a:rPr>
              <a:t>router: 6 input ports, controller, crossbar, 6 output ports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3"/>
          <p:cNvSpPr/>
          <p:nvPr/>
        </p:nvSpPr>
        <p:spPr>
          <a:xfrm>
            <a:off x="4626720" y="877680"/>
            <a:ext cx="4187520" cy="267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Image 1" descr="sch5.jpg"/>
          <p:cNvPicPr/>
          <p:nvPr/>
        </p:nvPicPr>
        <p:blipFill>
          <a:blip r:embed="rId2"/>
          <a:stretch/>
        </p:blipFill>
        <p:spPr>
          <a:xfrm>
            <a:off x="4663440" y="914400"/>
            <a:ext cx="4114440" cy="2597400"/>
          </a:xfrm>
          <a:prstGeom prst="rect">
            <a:avLst/>
          </a:prstGeom>
          <a:ln w="0">
            <a:noFill/>
          </a:ln>
        </p:spPr>
      </p:pic>
      <p:sp>
        <p:nvSpPr>
          <p:cNvPr id="98" name="Text 4"/>
          <p:cNvSpPr/>
          <p:nvPr/>
        </p:nvSpPr>
        <p:spPr>
          <a:xfrm>
            <a:off x="4663440" y="358524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cde9ec"/>
                </a:solidFill>
                <a:latin typeface="Calibri"/>
              </a:rPr>
              <a:t>input_port: buffer + routing_unit + request_generator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686160" y="411480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Output port (output_buffer) and crossbar complete the datapath.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sldNum" idx="15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89861E4-E649-4E65-8072-9751082DC83A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Key Code: Routing Mux and Arbiter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365760" y="914400"/>
            <a:ext cx="4205880" cy="91404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assign preferred_direction =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   </a:t>
            </a: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gateway_required ? global_direction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                    </a:t>
            </a: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: xy_direction;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2"/>
          <p:cNvSpPr/>
          <p:nvPr/>
        </p:nvSpPr>
        <p:spPr>
          <a:xfrm>
            <a:off x="365760" y="2011680"/>
            <a:ext cx="4205880" cy="191988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for (i=1;i&lt;=NUM_PORTS;i=i+1) begin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index=last_grant+i;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if(index&gt;=NUM_PORTS) index=index-NUM_PORTS;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if(!found &amp;&amp; request[index]) begin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     </a:t>
            </a: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grant[index]=1'b1; found=1'b1;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end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f6f7"/>
                </a:solidFill>
                <a:latin typeface="Consolas"/>
                <a:ea typeface="Consolas"/>
              </a:rPr>
              <a:t>end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3"/>
          <p:cNvSpPr/>
          <p:nvPr/>
        </p:nvSpPr>
        <p:spPr>
          <a:xfrm>
            <a:off x="4754880" y="914400"/>
            <a:ext cx="393156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rgbClr val="f2b134"/>
                </a:solidFill>
                <a:latin typeface="Calibri"/>
              </a:rPr>
              <a:t>Routing: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same cluster uses XY, other cluster uses the Spidergon direction.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rgbClr val="f2b134"/>
                </a:solidFill>
                <a:latin typeface="Calibri"/>
              </a:rPr>
              <a:t>Arbiter: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last_grant rotates priority for fairness.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rgbClr val="f2b134"/>
                </a:solidFill>
                <a:latin typeface="Calibri"/>
              </a:rPr>
              <a:t>Gateway: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direction 3'b101 sends the flit out of the 6th port.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sldNum" idx="16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3A653F3-0B0F-4603-9909-013C2D14E3D9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/>
          <p:nvPr/>
        </p:nvSpPr>
        <p:spPr>
          <a:xfrm>
            <a:off x="457200" y="1645920"/>
            <a:ext cx="8137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2b134"/>
                </a:solidFill>
                <a:latin typeface="Calibri"/>
              </a:rPr>
              <a:t>C. Functional Verification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1"/>
          <p:cNvSpPr/>
          <p:nvPr/>
        </p:nvSpPr>
        <p:spPr>
          <a:xfrm>
            <a:off x="731520" y="2651760"/>
            <a:ext cx="7680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Layered testing from modules up to the full 64-router system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sldNum" idx="17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13D2ECC-0900-479C-90AD-7ACF6856DA20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Verification Strategy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1"/>
          <p:cNvSpPr/>
          <p:nvPr/>
        </p:nvSpPr>
        <p:spPr>
          <a:xfrm>
            <a:off x="365760" y="1188720"/>
            <a:ext cx="1028880" cy="914040"/>
          </a:xfrm>
          <a:prstGeom prst="roundRect">
            <a:avLst>
              <a:gd name="adj" fmla="val 8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Module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1395000" y="153612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1596240" y="1188720"/>
            <a:ext cx="1028880" cy="914040"/>
          </a:xfrm>
          <a:prstGeom prst="roundRect">
            <a:avLst>
              <a:gd name="adj" fmla="val 8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Router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4"/>
          <p:cNvSpPr/>
          <p:nvPr/>
        </p:nvSpPr>
        <p:spPr>
          <a:xfrm>
            <a:off x="2625480" y="153612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5"/>
          <p:cNvSpPr/>
          <p:nvPr/>
        </p:nvSpPr>
        <p:spPr>
          <a:xfrm>
            <a:off x="2826720" y="1188720"/>
            <a:ext cx="1028880" cy="914040"/>
          </a:xfrm>
          <a:prstGeom prst="roundRect">
            <a:avLst>
              <a:gd name="adj" fmla="val 8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Cluster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6"/>
          <p:cNvSpPr/>
          <p:nvPr/>
        </p:nvSpPr>
        <p:spPr>
          <a:xfrm>
            <a:off x="3856320" y="153612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7"/>
          <p:cNvSpPr/>
          <p:nvPr/>
        </p:nvSpPr>
        <p:spPr>
          <a:xfrm>
            <a:off x="4057200" y="1188720"/>
            <a:ext cx="1028880" cy="914040"/>
          </a:xfrm>
          <a:prstGeom prst="roundRect">
            <a:avLst>
              <a:gd name="adj" fmla="val 8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Network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8"/>
          <p:cNvSpPr/>
          <p:nvPr/>
        </p:nvSpPr>
        <p:spPr>
          <a:xfrm>
            <a:off x="5086800" y="153612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9"/>
          <p:cNvSpPr/>
          <p:nvPr/>
        </p:nvSpPr>
        <p:spPr>
          <a:xfrm>
            <a:off x="5287680" y="1188720"/>
            <a:ext cx="1028880" cy="914040"/>
          </a:xfrm>
          <a:prstGeom prst="roundRect">
            <a:avLst>
              <a:gd name="adj" fmla="val 8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Exhaustive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10"/>
          <p:cNvSpPr/>
          <p:nvPr/>
        </p:nvSpPr>
        <p:spPr>
          <a:xfrm>
            <a:off x="6317280" y="153612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11"/>
          <p:cNvSpPr/>
          <p:nvPr/>
        </p:nvSpPr>
        <p:spPr>
          <a:xfrm>
            <a:off x="6518520" y="1188720"/>
            <a:ext cx="1028880" cy="914040"/>
          </a:xfrm>
          <a:prstGeom prst="roundRect">
            <a:avLst>
              <a:gd name="adj" fmla="val 8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Stress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12"/>
          <p:cNvSpPr/>
          <p:nvPr/>
        </p:nvSpPr>
        <p:spPr>
          <a:xfrm>
            <a:off x="7547760" y="153612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13"/>
          <p:cNvSpPr/>
          <p:nvPr/>
        </p:nvSpPr>
        <p:spPr>
          <a:xfrm>
            <a:off x="7749000" y="1188720"/>
            <a:ext cx="1028880" cy="914040"/>
          </a:xfrm>
          <a:prstGeom prst="roundRect">
            <a:avLst>
              <a:gd name="adj" fmla="val 8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Performance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14"/>
          <p:cNvSpPr/>
          <p:nvPr/>
        </p:nvSpPr>
        <p:spPr>
          <a:xfrm>
            <a:off x="457200" y="2651760"/>
            <a:ext cx="813780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Bottom-up: ~40 module and integration testbenches in /testbench, then ultimate_tb comprehensive, smoke and metrics-sanity benches.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Tool: Vivado 2025.2 XSim.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 type="sldNum" idx="18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939035C-D723-4916-8715-29F0F79EFDC3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Functional Verification Results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26" name="Table 0"/>
          <p:cNvGraphicFramePr/>
          <p:nvPr/>
        </p:nvGraphicFramePr>
        <p:xfrm>
          <a:off x="457200" y="914400"/>
          <a:ext cx="4754520" cy="260064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</a:tblGrid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Exhaustive routing (all paths)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4096 / 4096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Simultaneous packets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PASS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Inter-cluster contention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PASS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Back-to-back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PASS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Multi-cluster burst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PASS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Reset / recovery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PASS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Overall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4112 / 4112 PASS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</a:tbl>
          </a:graphicData>
        </a:graphic>
      </p:graphicFrame>
      <p:sp>
        <p:nvSpPr>
          <p:cNvPr id="127" name="Text 1"/>
          <p:cNvSpPr/>
          <p:nvPr/>
        </p:nvSpPr>
        <p:spPr>
          <a:xfrm>
            <a:off x="5486400" y="1097280"/>
            <a:ext cx="31086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2b134"/>
                </a:solidFill>
                <a:latin typeface="Calibri"/>
              </a:rPr>
              <a:t>4112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2b134"/>
                </a:solidFill>
                <a:latin typeface="Calibri"/>
              </a:rPr>
              <a:t>/ 4112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2"/>
          <p:cNvSpPr/>
          <p:nvPr/>
        </p:nvSpPr>
        <p:spPr>
          <a:xfrm>
            <a:off x="5486400" y="2743200"/>
            <a:ext cx="3108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0 failed. Earlier 4x4-cluster configuration: 256 / 256.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sldNum" idx="19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1932655-3816-4BE3-A57E-0235C9B44038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Verification Evolution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365760" y="1097280"/>
            <a:ext cx="1234080" cy="914040"/>
          </a:xfrm>
          <a:prstGeom prst="roundRect">
            <a:avLst>
              <a:gd name="adj" fmla="val 8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Initial failures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2"/>
          <p:cNvSpPr/>
          <p:nvPr/>
        </p:nvSpPr>
        <p:spPr>
          <a:xfrm>
            <a:off x="1600200" y="144468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3"/>
          <p:cNvSpPr/>
          <p:nvPr/>
        </p:nvSpPr>
        <p:spPr>
          <a:xfrm>
            <a:off x="1801440" y="1097280"/>
            <a:ext cx="1234080" cy="914040"/>
          </a:xfrm>
          <a:prstGeom prst="roundRect">
            <a:avLst>
              <a:gd name="adj" fmla="val 8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Port / interface fixes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4"/>
          <p:cNvSpPr/>
          <p:nvPr/>
        </p:nvSpPr>
        <p:spPr>
          <a:xfrm>
            <a:off x="3035880" y="144468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5"/>
          <p:cNvSpPr/>
          <p:nvPr/>
        </p:nvSpPr>
        <p:spPr>
          <a:xfrm>
            <a:off x="3237120" y="1097280"/>
            <a:ext cx="1234080" cy="914040"/>
          </a:xfrm>
          <a:prstGeom prst="roundRect">
            <a:avLst>
              <a:gd name="adj" fmla="val 8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Gateway debug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6"/>
          <p:cNvSpPr/>
          <p:nvPr/>
        </p:nvSpPr>
        <p:spPr>
          <a:xfrm>
            <a:off x="4471560" y="144468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7"/>
          <p:cNvSpPr/>
          <p:nvPr/>
        </p:nvSpPr>
        <p:spPr>
          <a:xfrm>
            <a:off x="4672440" y="1097280"/>
            <a:ext cx="1234080" cy="914040"/>
          </a:xfrm>
          <a:prstGeom prst="roundRect">
            <a:avLst>
              <a:gd name="adj" fmla="val 8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Contention debug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8"/>
          <p:cNvSpPr/>
          <p:nvPr/>
        </p:nvSpPr>
        <p:spPr>
          <a:xfrm>
            <a:off x="5906880" y="144468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9"/>
          <p:cNvSpPr/>
          <p:nvPr/>
        </p:nvSpPr>
        <p:spPr>
          <a:xfrm>
            <a:off x="6108120" y="1097280"/>
            <a:ext cx="1234080" cy="914040"/>
          </a:xfrm>
          <a:prstGeom prst="roundRect">
            <a:avLst>
              <a:gd name="adj" fmla="val 8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Back-to-back debug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10"/>
          <p:cNvSpPr/>
          <p:nvPr/>
        </p:nvSpPr>
        <p:spPr>
          <a:xfrm>
            <a:off x="7342560" y="144468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11"/>
          <p:cNvSpPr/>
          <p:nvPr/>
        </p:nvSpPr>
        <p:spPr>
          <a:xfrm>
            <a:off x="7543800" y="1097280"/>
            <a:ext cx="1234080" cy="914040"/>
          </a:xfrm>
          <a:prstGeom prst="roundRect">
            <a:avLst>
              <a:gd name="adj" fmla="val 8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</a:rPr>
              <a:t>4112 / 4112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42" name="Table 0"/>
          <p:cNvGraphicFramePr/>
          <p:nvPr/>
        </p:nvGraphicFramePr>
        <p:xfrm>
          <a:off x="457200" y="2377440"/>
          <a:ext cx="8137800" cy="1540800"/>
        </p:xfrm>
        <a:graphic>
          <a:graphicData uri="http://schemas.openxmlformats.org/drawingml/2006/table">
            <a:tbl>
              <a:tblPr/>
              <a:tblGrid>
                <a:gridCol w="4023360"/>
                <a:gridCol w="4114800"/>
              </a:tblGrid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Issue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Resolution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Gateway interface mismatches, missing ports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Added GATEWAY port, fixed wiring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Arbiter starvation under contention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Round-robin with last_grant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Back-to-back packet issue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FIFO / handshake debugging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Include-path problems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Single noc_defines.vh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</a:tbl>
          </a:graphicData>
        </a:graphic>
      </p:graphicFrame>
      <p:sp>
        <p:nvSpPr>
          <p:cNvPr id="143" name="PlaceHolder 1"/>
          <p:cNvSpPr>
            <a:spLocks noGrp="1"/>
          </p:cNvSpPr>
          <p:nvPr>
            <p:ph type="sldNum" idx="20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445F1A0-19EB-438E-B63F-5FD711156BC9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457200" y="1645920"/>
            <a:ext cx="8137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2b134"/>
                </a:solidFill>
                <a:latin typeface="Calibri"/>
              </a:rPr>
              <a:t>D. Performance Metrics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731520" y="2651760"/>
            <a:ext cx="7680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Latency, hop count, throughput and delivery measured in XSim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sldNum" idx="21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1293B9D-2AEB-479A-98EE-6F354804B1AF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Metrics Infrastructure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365760" y="1005840"/>
            <a:ext cx="1234080" cy="914040"/>
          </a:xfrm>
          <a:prstGeom prst="roundRect">
            <a:avLst>
              <a:gd name="adj" fmla="val 8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Injection event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2"/>
          <p:cNvSpPr/>
          <p:nvPr/>
        </p:nvSpPr>
        <p:spPr>
          <a:xfrm>
            <a:off x="1600200" y="135324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3"/>
          <p:cNvSpPr/>
          <p:nvPr/>
        </p:nvSpPr>
        <p:spPr>
          <a:xfrm>
            <a:off x="1801440" y="1005840"/>
            <a:ext cx="1234080" cy="914040"/>
          </a:xfrm>
          <a:prstGeom prst="roundRect">
            <a:avLst>
              <a:gd name="adj" fmla="val 8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Metrics monitor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4"/>
          <p:cNvSpPr/>
          <p:nvPr/>
        </p:nvSpPr>
        <p:spPr>
          <a:xfrm>
            <a:off x="3035880" y="135324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5"/>
          <p:cNvSpPr/>
          <p:nvPr/>
        </p:nvSpPr>
        <p:spPr>
          <a:xfrm>
            <a:off x="3237120" y="1005840"/>
            <a:ext cx="1234080" cy="914040"/>
          </a:xfrm>
          <a:prstGeom prst="roundRect">
            <a:avLst>
              <a:gd name="adj" fmla="val 8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Transaction ID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6"/>
          <p:cNvSpPr/>
          <p:nvPr/>
        </p:nvSpPr>
        <p:spPr>
          <a:xfrm>
            <a:off x="4471560" y="135324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7"/>
          <p:cNvSpPr/>
          <p:nvPr/>
        </p:nvSpPr>
        <p:spPr>
          <a:xfrm>
            <a:off x="4672440" y="1005840"/>
            <a:ext cx="1234080" cy="914040"/>
          </a:xfrm>
          <a:prstGeom prst="roundRect">
            <a:avLst>
              <a:gd name="adj" fmla="val 8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Receive match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8"/>
          <p:cNvSpPr/>
          <p:nvPr/>
        </p:nvSpPr>
        <p:spPr>
          <a:xfrm>
            <a:off x="5906880" y="135324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9"/>
          <p:cNvSpPr/>
          <p:nvPr/>
        </p:nvSpPr>
        <p:spPr>
          <a:xfrm>
            <a:off x="6108120" y="1005840"/>
            <a:ext cx="1234080" cy="914040"/>
          </a:xfrm>
          <a:prstGeom prst="roundRect">
            <a:avLst>
              <a:gd name="adj" fmla="val 8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Latency + hops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10"/>
          <p:cNvSpPr/>
          <p:nvPr/>
        </p:nvSpPr>
        <p:spPr>
          <a:xfrm>
            <a:off x="7342560" y="1353240"/>
            <a:ext cx="200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2b134"/>
                </a:solidFill>
                <a:latin typeface="Calibri"/>
              </a:rPr>
              <a:t>▶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11"/>
          <p:cNvSpPr/>
          <p:nvPr/>
        </p:nvSpPr>
        <p:spPr>
          <a:xfrm>
            <a:off x="7543800" y="1005840"/>
            <a:ext cx="1234080" cy="914040"/>
          </a:xfrm>
          <a:prstGeom prst="roundRect">
            <a:avLst>
              <a:gd name="adj" fmla="val 8000"/>
            </a:avLst>
          </a:prstGeom>
          <a:solidFill>
            <a:srgbClr val="0e3a45">
              <a:alpha val="90000"/>
            </a:srgbClr>
          </a:solidFill>
          <a:ln w="12700">
            <a:solidFill>
              <a:srgbClr val="f2b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Throughput + delivery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12"/>
          <p:cNvSpPr/>
          <p:nvPr/>
        </p:nvSpPr>
        <p:spPr>
          <a:xfrm>
            <a:off x="457200" y="2194560"/>
            <a:ext cx="475452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noc_v2_metrics_monitor.v: payload[31:0] is a unique transaction ID per packet.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Latency = receive cycle minus injection cycle; min, max, average and unmatched count kept.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Hop count from noc_v2_hybrid_hop_calculator.v (analytical, not carried in the packet).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13"/>
          <p:cNvSpPr/>
          <p:nvPr/>
        </p:nvSpPr>
        <p:spPr>
          <a:xfrm>
            <a:off x="5394960" y="2286000"/>
            <a:ext cx="3291480" cy="164556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f6f7"/>
                </a:solidFill>
                <a:latin typeface="Consolas"/>
                <a:ea typeface="Consolas"/>
              </a:rPr>
              <a:t>Local : H = |Sr-Dr| + |Sc-Dc|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f6f7"/>
                </a:solidFill>
                <a:latin typeface="Consolas"/>
                <a:ea typeface="Consolas"/>
              </a:rPr>
              <a:t>Inter-cluster 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f6f7"/>
                </a:solidFill>
                <a:latin typeface="Consolas"/>
                <a:ea typeface="Consolas"/>
              </a:rPr>
              <a:t>H = Sr + Sc + 1 + Dr + Dc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PlaceHolder 1"/>
          <p:cNvSpPr>
            <a:spLocks noGrp="1"/>
          </p:cNvSpPr>
          <p:nvPr>
            <p:ph type="sldNum" idx="22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433C3CE-6516-4B9A-9DA6-16F5A472B9C6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Console Output: Metrics Sanity Test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1"/>
          <p:cNvSpPr/>
          <p:nvPr/>
        </p:nvSpPr>
        <p:spPr>
          <a:xfrm>
            <a:off x="365760" y="914400"/>
            <a:ext cx="4114440" cy="384012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HYBRID NoC V2 METRICS SANITY TEST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DUT: 64 routers / 4 clusters x 4x4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Packet width: 48 bits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PHASE A : LOCAL (C0/R0 -&gt; C0/R3)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 </a:t>
            </a: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Injected 10  Received 10  Unmatched 0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 </a:t>
            </a: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Avg latency 8.0  Min 8  Max 8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 </a:t>
            </a: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Avg hops 3.0   PHASE RESULT: PASS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PHASE B : INTER-CLUSTER (C0/R0 -&gt; C2/R3)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 </a:t>
            </a: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Injected 10  Received 10  Unmatched 0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 </a:t>
            </a: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Avg latency 11.0  Min 8  Max 11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 </a:t>
            </a: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Avg hops 4.0   PHASE RESULT: PASS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2"/>
          <p:cNvSpPr/>
          <p:nvPr/>
        </p:nvSpPr>
        <p:spPr>
          <a:xfrm>
            <a:off x="4663440" y="914400"/>
            <a:ext cx="4114440" cy="310860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HYBRID NoC V2 METRICS SUMMARY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 </a:t>
            </a: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Packets injected     : 20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 </a:t>
            </a: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Packets received     : 20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 </a:t>
            </a: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Unmatched receives   : 0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 </a:t>
            </a: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Total latency        : 190 cycles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 </a:t>
            </a: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Average latency      : 9.5 cycles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 </a:t>
            </a: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Total hop count      : 70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 </a:t>
            </a: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Average hop count    : 3.5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 </a:t>
            </a: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Delivery rate        : 100.0 %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 </a:t>
            </a: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Experiment cycles    : 66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 </a:t>
            </a: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Throughput           : 0.3030 pkt/cycle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f6f7"/>
                </a:solidFill>
                <a:latin typeface="Consolas"/>
                <a:ea typeface="Consolas"/>
              </a:rPr>
              <a:t>RESULT : ALL V2 METRICS TESTS PASS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sldNum" idx="23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413B41B-FA4D-474E-86CB-3A6E3EA75947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Result: Local vs Inter-Cluster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67" name="Table 0"/>
          <p:cNvGraphicFramePr/>
          <p:nvPr/>
        </p:nvGraphicFramePr>
        <p:xfrm>
          <a:off x="365760" y="914400"/>
          <a:ext cx="4480200" cy="2157120"/>
        </p:xfrm>
        <a:graphic>
          <a:graphicData uri="http://schemas.openxmlformats.org/drawingml/2006/table">
            <a:tbl>
              <a:tblPr/>
              <a:tblGrid>
                <a:gridCol w="1554480"/>
                <a:gridCol w="1463040"/>
                <a:gridCol w="1463040"/>
              </a:tblGrid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Local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Inter-cluster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Route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C0/R0 to C0/R3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C0/R0 to C2/R3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Packets / received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10 / 10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10 / 10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Unmatched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0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0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Avg latency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8 cycles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11 cycles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Avg hops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Delivery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100%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100%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8" name="Chart 0"/>
          <p:cNvGraphicFramePr/>
          <p:nvPr/>
        </p:nvGraphicFramePr>
        <p:xfrm>
          <a:off x="5029200" y="914400"/>
          <a:ext cx="3748680" cy="356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69" name="PlaceHolder 1"/>
          <p:cNvSpPr>
            <a:spLocks noGrp="1"/>
          </p:cNvSpPr>
          <p:nvPr>
            <p:ph type="sldNum" idx="24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CDD0791-2BB1-41BF-A24D-0E93A4F3252A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Result: Overall Metrics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71" name="Table 0"/>
          <p:cNvGraphicFramePr/>
          <p:nvPr/>
        </p:nvGraphicFramePr>
        <p:xfrm>
          <a:off x="365760" y="914400"/>
          <a:ext cx="4205880" cy="260064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</a:tblGrid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Injected / received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20 / 20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Unmatched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0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Total / avg latency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190 / 9.5 cycles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Total / avg hops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70 / 3.5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Delivery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100%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Experiment cycles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66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Throughput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0.3030 pkt/cycle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</a:tbl>
          </a:graphicData>
        </a:graphic>
      </p:graphicFrame>
      <p:sp>
        <p:nvSpPr>
          <p:cNvPr id="172" name="Shape 1"/>
          <p:cNvSpPr/>
          <p:nvPr/>
        </p:nvSpPr>
        <p:spPr>
          <a:xfrm>
            <a:off x="4754880" y="914400"/>
            <a:ext cx="3931560" cy="1737000"/>
          </a:xfrm>
          <a:prstGeom prst="roundRect">
            <a:avLst>
              <a:gd name="adj" fmla="val 4211"/>
            </a:avLst>
          </a:prstGeom>
          <a:solidFill>
            <a:srgbClr val="0e3a45">
              <a:alpha val="85000"/>
            </a:srgbClr>
          </a:solidFill>
          <a:ln w="12700">
            <a:solidFill>
              <a:srgbClr val="1b8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2"/>
          <p:cNvSpPr/>
          <p:nvPr/>
        </p:nvSpPr>
        <p:spPr>
          <a:xfrm>
            <a:off x="4846320" y="960120"/>
            <a:ext cx="37486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2b134"/>
                </a:solidFill>
                <a:latin typeface="Calibri"/>
              </a:rPr>
              <a:t>Metrics infrastructure validated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fffff"/>
                </a:solidFill>
                <a:latin typeface="Calibri"/>
              </a:rPr>
              <a:t>Two traffic scenarios, so this proves the measurement chain, not a full benchmark.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3"/>
          <p:cNvSpPr/>
          <p:nvPr/>
        </p:nvSpPr>
        <p:spPr>
          <a:xfrm>
            <a:off x="4754880" y="2834640"/>
            <a:ext cx="3931560" cy="1645560"/>
          </a:xfrm>
          <a:prstGeom prst="roundRect">
            <a:avLst>
              <a:gd name="adj" fmla="val 4444"/>
            </a:avLst>
          </a:prstGeom>
          <a:solidFill>
            <a:srgbClr val="0e3a45">
              <a:alpha val="85000"/>
            </a:srgbClr>
          </a:solidFill>
          <a:ln w="12700">
            <a:solidFill>
              <a:srgbClr val="1b8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4846320" y="2880360"/>
            <a:ext cx="37486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2b134"/>
                </a:solidFill>
                <a:latin typeface="Calibri"/>
              </a:rPr>
              <a:t>Inter-cluster cost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fffff"/>
                </a:solidFill>
                <a:latin typeface="Calibri"/>
              </a:rPr>
              <a:t>Crossing the global network adds about 3 cycles over a local route here.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PlaceHolder 1"/>
          <p:cNvSpPr>
            <a:spLocks noGrp="1"/>
          </p:cNvSpPr>
          <p:nvPr>
            <p:ph type="sldNum" idx="25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4235A20-D387-4175-934B-E3AD3207789A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Result: Hop Calculator and Congestion Checker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78" name="Table 0"/>
          <p:cNvGraphicFramePr/>
          <p:nvPr/>
        </p:nvGraphicFramePr>
        <p:xfrm>
          <a:off x="365760" y="914400"/>
          <a:ext cx="4205880" cy="15408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</a:tblGrid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Hop calculator test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Hops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C0/R0/C0 to C0/R0/C3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C0/R1/C2 to C0/R3/C0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C0/R0/C0 to C2/R0/C3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C1/R3/C3 to C3/R3/C3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13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9" name="Table 1"/>
          <p:cNvGraphicFramePr/>
          <p:nvPr/>
        </p:nvGraphicFramePr>
        <p:xfrm>
          <a:off x="4754880" y="914400"/>
          <a:ext cx="3931560" cy="123264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</a:tblGrid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Congestion check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dir=011, congested=0 / 1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PASS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dir=001, congested=1 / 0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PASS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dir=100, congested=1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PASS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</a:tbl>
          </a:graphicData>
        </a:graphic>
      </p:graphicFrame>
      <p:sp>
        <p:nvSpPr>
          <p:cNvPr id="180" name="Text 1"/>
          <p:cNvSpPr/>
          <p:nvPr/>
        </p:nvSpPr>
        <p:spPr>
          <a:xfrm>
            <a:off x="365760" y="3200400"/>
            <a:ext cx="8320680" cy="118836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f6f7"/>
                </a:solidFill>
                <a:latin typeface="Consolas"/>
                <a:ea typeface="Consolas"/>
              </a:rPr>
              <a:t>Hop calculator tests : 9/9 PASS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f6f7"/>
                </a:solidFill>
                <a:latin typeface="Consolas"/>
                <a:ea typeface="Consolas"/>
              </a:rPr>
              <a:t>System delivery check : PASS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f6f7"/>
                </a:solidFill>
                <a:latin typeface="Consolas"/>
                <a:ea typeface="Consolas"/>
              </a:rPr>
              <a:t>Local/inter-cluster   : PASS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8f6f7"/>
                </a:solidFill>
                <a:latin typeface="Consolas"/>
                <a:ea typeface="Consolas"/>
              </a:rPr>
              <a:t>RESULT : ALL V2 METRICS TESTS PASS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PlaceHolder 1"/>
          <p:cNvSpPr>
            <a:spLocks noGrp="1"/>
          </p:cNvSpPr>
          <p:nvPr>
            <p:ph type="sldNum" idx="26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69826EB-85F5-4B46-9855-11D5D650EA67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 0"/>
          <p:cNvSpPr/>
          <p:nvPr/>
        </p:nvSpPr>
        <p:spPr>
          <a:xfrm>
            <a:off x="457200" y="1645920"/>
            <a:ext cx="8137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2b134"/>
                </a:solidFill>
                <a:latin typeface="Calibri"/>
              </a:rPr>
              <a:t>E. Topology Comparison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1"/>
          <p:cNvSpPr/>
          <p:nvPr/>
        </p:nvSpPr>
        <p:spPr>
          <a:xfrm>
            <a:off x="731520" y="2651760"/>
            <a:ext cx="7680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Analytical hop-count study: Hybrid vs Mesh vs Spidergon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PlaceHolder 1"/>
          <p:cNvSpPr>
            <a:spLocks noGrp="1"/>
          </p:cNvSpPr>
          <p:nvPr>
            <p:ph type="sldNum" idx="27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024D44B-1B48-42C0-BAF7-A77786C4B82D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Comparison Methodology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86" name="Table 0"/>
          <p:cNvGraphicFramePr/>
          <p:nvPr/>
        </p:nvGraphicFramePr>
        <p:xfrm>
          <a:off x="457200" y="914400"/>
          <a:ext cx="8137800" cy="2157120"/>
        </p:xfrm>
        <a:graphic>
          <a:graphicData uri="http://schemas.openxmlformats.org/drawingml/2006/table">
            <a:tbl>
              <a:tblPr/>
              <a:tblGrid>
                <a:gridCol w="1828800"/>
                <a:gridCol w="6309360"/>
              </a:tblGrid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Nodes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64 for every topology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Pairs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All 64 x 63 = 4032 source-destination pairs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Hybrid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V2 model: local Manhattan; inter-cluster Sr+Sc+1+Dr+Dc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Mesh baseline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Flat 8x8 mesh, Manhattan distance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Spidergon baseline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64-node ring, across link at N/2, across-first routing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Link traversals (hops), uniform all-pairs traffic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</a:tbl>
          </a:graphicData>
        </a:graphic>
      </p:graphicFrame>
      <p:sp>
        <p:nvSpPr>
          <p:cNvPr id="187" name="Text 1"/>
          <p:cNvSpPr/>
          <p:nvPr/>
        </p:nvSpPr>
        <p:spPr>
          <a:xfrm>
            <a:off x="457200" y="3931920"/>
            <a:ext cx="8137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This is an analytical model, not a cycle-accurate simulation of the baselines.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PlaceHolder 1"/>
          <p:cNvSpPr>
            <a:spLocks noGrp="1"/>
          </p:cNvSpPr>
          <p:nvPr>
            <p:ph type="sldNum" idx="28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BCDE249-9584-4D47-AD79-F9DB7CD87486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Result: Average and Worst-Case Hops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90" name="Chart 0"/>
          <p:cNvGraphicFramePr/>
          <p:nvPr/>
        </p:nvGraphicFramePr>
        <p:xfrm>
          <a:off x="365760" y="914400"/>
          <a:ext cx="4205880" cy="356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91" name="Chart 1"/>
          <p:cNvGraphicFramePr/>
          <p:nvPr/>
        </p:nvGraphicFramePr>
        <p:xfrm>
          <a:off x="4572000" y="914400"/>
          <a:ext cx="4205880" cy="356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2" name="PlaceHolder 1"/>
          <p:cNvSpPr>
            <a:spLocks noGrp="1"/>
          </p:cNvSpPr>
          <p:nvPr>
            <p:ph type="sldNum" idx="29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8F9068F-38C7-484B-9C83-6BD5123ED727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Result: Hybrid Local vs Inter-Cluster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94" name="Chart 0"/>
          <p:cNvGraphicFramePr/>
          <p:nvPr/>
        </p:nvGraphicFramePr>
        <p:xfrm>
          <a:off x="365760" y="914400"/>
          <a:ext cx="4571640" cy="356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95" name="Text 1"/>
          <p:cNvSpPr/>
          <p:nvPr/>
        </p:nvSpPr>
        <p:spPr>
          <a:xfrm>
            <a:off x="5120640" y="914400"/>
            <a:ext cx="356580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f2b134"/>
                </a:solidFill>
                <a:latin typeface="Calibri"/>
              </a:rPr>
              <a:t>Local: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2.67 hops, far shorter than a flat mesh average.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f2b134"/>
                </a:solidFill>
                <a:latin typeface="Calibri"/>
              </a:rPr>
              <a:t>Inter-cluster: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7.0 hops, because every packet funnels through corner gateways (0,0).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f2b134"/>
                </a:solidFill>
                <a:latin typeface="Calibri"/>
              </a:rPr>
              <a:t>Reading: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gateway placement, not the global link, dominates inter-cluster cost.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PlaceHolder 1"/>
          <p:cNvSpPr>
            <a:spLocks noGrp="1"/>
          </p:cNvSpPr>
          <p:nvPr>
            <p:ph type="sldNum" idx="30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4587092-3E1C-43CD-AC83-9D19ECC53B79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Overall Comparison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98" name="Table 0"/>
          <p:cNvGraphicFramePr/>
          <p:nvPr/>
        </p:nvGraphicFramePr>
        <p:xfrm>
          <a:off x="365760" y="914400"/>
          <a:ext cx="8412120" cy="246528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2011680"/>
              </a:tblGrid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Mesh 8x8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Spidergon-64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Hybrid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1b8a9a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Avg hops (4032 pairs)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5.33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8.62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5.97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Worst-case hops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14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16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13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Local (in-cluster) avg hops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n/a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n/a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2.67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Router ports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 (+ local)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5 (6 at gateways)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Long wires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None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Across links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4 gateway links only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Measured latency (RTL)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not built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not built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8 / 11 cycles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  <a:tr h="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Measured throughput (RTL)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not built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not built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0.3030 pkt/cycle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9360">
                      <a:solidFill>
                        <a:srgbClr val="3c6e78"/>
                      </a:solidFill>
                      <a:prstDash val="solid"/>
                    </a:lnL>
                    <a:lnR w="9360">
                      <a:solidFill>
                        <a:srgbClr val="3c6e78"/>
                      </a:solidFill>
                      <a:prstDash val="solid"/>
                    </a:lnR>
                    <a:lnT w="9360">
                      <a:solidFill>
                        <a:srgbClr val="3c6e78"/>
                      </a:solidFill>
                      <a:prstDash val="solid"/>
                    </a:lnT>
                    <a:lnB w="9360">
                      <a:solidFill>
                        <a:srgbClr val="3c6e78"/>
                      </a:solidFill>
                      <a:prstDash val="solid"/>
                    </a:lnB>
                    <a:solidFill>
                      <a:srgbClr val="0e3a45"/>
                    </a:solidFill>
                  </a:tcPr>
                </a:tc>
              </a:tr>
            </a:tbl>
          </a:graphicData>
        </a:graphic>
      </p:graphicFrame>
      <p:sp>
        <p:nvSpPr>
          <p:cNvPr id="199" name="Text 1"/>
          <p:cNvSpPr/>
          <p:nvPr/>
        </p:nvSpPr>
        <p:spPr>
          <a:xfrm>
            <a:off x="457200" y="39776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Hybrid beats Spidergon-64 on hops and has the lowest worst case; flat mesh is slightly lower on average under uniform traffic.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sldNum" idx="31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77F8E7A-2224-47FB-9D6D-99E2ECFF1D2A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Discussion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1"/>
          <p:cNvSpPr/>
          <p:nvPr/>
        </p:nvSpPr>
        <p:spPr>
          <a:xfrm>
            <a:off x="457200" y="914400"/>
            <a:ext cx="81378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rgbClr val="f2b134"/>
                </a:solidFill>
                <a:latin typeface="Calibri"/>
              </a:rPr>
              <a:t>Finding: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under uniform all-pairs traffic the hybrid is 12% above a flat 8x8 mesh on average hops, but 7% lower in worst case.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rgbClr val="f2b134"/>
                </a:solidFill>
                <a:latin typeface="Calibri"/>
              </a:rPr>
              <a:t>Why: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one corner gateway per cluster concentrates inter-cluster traffic.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rgbClr val="f2b134"/>
                </a:solidFill>
                <a:latin typeface="Calibri"/>
              </a:rPr>
              <a:t>Where hybrid wins: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local traffic (2.67 hops), physical simplicity (only 4 global links) and Spidergon-like scaling.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rgbClr val="f2b134"/>
                </a:solidFill>
                <a:latin typeface="Calibri"/>
              </a:rPr>
              <a:t>Improvement path: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adaptive gateway selection or more gateways per cluster (adaptive blocks already in RTL).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PlaceHolder 1"/>
          <p:cNvSpPr>
            <a:spLocks noGrp="1"/>
          </p:cNvSpPr>
          <p:nvPr>
            <p:ph type="sldNum" idx="32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796ECB4-9108-4712-B805-D20EFF5675EA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 0"/>
          <p:cNvSpPr/>
          <p:nvPr/>
        </p:nvSpPr>
        <p:spPr>
          <a:xfrm>
            <a:off x="457200" y="1645920"/>
            <a:ext cx="8137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2b134"/>
                </a:solidFill>
                <a:latin typeface="Calibri"/>
              </a:rPr>
              <a:t>F. Conclusions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1"/>
          <p:cNvSpPr/>
          <p:nvPr/>
        </p:nvSpPr>
        <p:spPr>
          <a:xfrm>
            <a:off x="731520" y="2651760"/>
            <a:ext cx="7680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Achievements, limitations and future work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PlaceHolder 1"/>
          <p:cNvSpPr>
            <a:spLocks noGrp="1"/>
          </p:cNvSpPr>
          <p:nvPr>
            <p:ph type="sldNum" idx="33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686BA9B-8D2F-434F-8913-F07AD14220E0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Achievements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1"/>
          <p:cNvSpPr/>
          <p:nvPr/>
        </p:nvSpPr>
        <p:spPr>
          <a:xfrm>
            <a:off x="457200" y="914400"/>
            <a:ext cx="81378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64-router architecture: 4 x (4x4) mesh clusters + Spidergon-like global network.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Six-port gateway router; 48-bit packet; complete RTL integration.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4112 / 4112 functional tests passed (4096 exhaustive routes + stress).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Metrics infrastructure: latency, hops, throughput, delivery; 20/20 delivered, 9.5-cycle average latency.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Analytical comparison against Mesh and Spidergon baselines.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sldNum" idx="34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FEE9704-2676-4CE7-BC67-58CF1B797250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Limitations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1"/>
          <p:cNvSpPr/>
          <p:nvPr/>
        </p:nvSpPr>
        <p:spPr>
          <a:xfrm>
            <a:off x="457200" y="914400"/>
            <a:ext cx="81378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Routing is deterministic; adaptive RTL exists but is not in the final route.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RTL latency/throughput measured for two scenarios only; no offered-load sweep yet.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Baseline comparison is analytical; baselines are not simulated in RTL.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Hop count is analytical, not carried in the packet.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Metrics monitor limited for arbitrary same-cycle events; FPGA synthesis not yet done.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PlaceHolder 1"/>
          <p:cNvSpPr>
            <a:spLocks noGrp="1"/>
          </p:cNvSpPr>
          <p:nvPr>
            <p:ph type="sldNum" idx="35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58D875A-BBBF-44FD-B858-F60FBFEFED38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Future Work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1"/>
          <p:cNvSpPr/>
          <p:nvPr/>
        </p:nvSpPr>
        <p:spPr>
          <a:xfrm>
            <a:off x="457200" y="914400"/>
            <a:ext cx="81378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	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RTL Mesh and Spidergon baselines for latency and throughput curves.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Activate adaptive gateway selection; try multiple gateways per cluster.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FPGA synthesis: area, Fmax, power.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PlaceHolder 1"/>
          <p:cNvSpPr>
            <a:spLocks noGrp="1"/>
          </p:cNvSpPr>
          <p:nvPr>
            <p:ph type="sldNum" idx="36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D49FDD0-66B3-4D59-B6B3-C32E487291B8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0"/>
          <p:cNvSpPr/>
          <p:nvPr/>
        </p:nvSpPr>
        <p:spPr>
          <a:xfrm>
            <a:off x="457200" y="228600"/>
            <a:ext cx="7680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Final Conclusion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1"/>
          <p:cNvSpPr/>
          <p:nvPr/>
        </p:nvSpPr>
        <p:spPr>
          <a:xfrm>
            <a:off x="457200" y="1005840"/>
            <a:ext cx="813780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The project progressed from a topology concept to a complete 64-router RTL Hybrid NoC with four 4x4 mesh clusters and Spidergon-like gateway links.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Functional verification passed 4112/4112 tests, and the metrics chain delivered 20/20 packets at 9.5-cycle average latency.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Analytically, the hybrid has the lowest worst-case hops (13) and 2.67-hop local paths, but a slightly higher uniform average than a flat mesh (5.97 vs 5.33).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</a:rPr>
              <a:t>Next: offered-load benchmarking and gateway optimisation.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PlaceHolder 1"/>
          <p:cNvSpPr>
            <a:spLocks noGrp="1"/>
          </p:cNvSpPr>
          <p:nvPr>
            <p:ph type="sldNum" idx="37"/>
          </p:nvPr>
        </p:nvSpPr>
        <p:spPr>
          <a:xfrm>
            <a:off x="365760" y="4800600"/>
            <a:ext cx="54828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fc9ce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949A9E3-8C91-4A66-8B99-91CBEBFCC07C}" type="slidenum">
              <a:rPr b="0" lang="en-US" sz="900" spc="-1" strike="noStrike">
                <a:solidFill>
                  <a:srgbClr val="9fc9ce"/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IT Teal">
  <a:themeElements>
    <a:clrScheme name="VIT Teal">
      <a:dk1>
        <a:srgbClr val="0b2e36"/>
      </a:dk1>
      <a:lt1>
        <a:srgbClr val="ffffff"/>
      </a:lt1>
      <a:dk2>
        <a:srgbClr val="0e3a45"/>
      </a:dk2>
      <a:lt2>
        <a:srgbClr val="d6eef0"/>
      </a:lt2>
      <a:accent1>
        <a:srgbClr val="f2b134"/>
      </a:accent1>
      <a:accent2>
        <a:srgbClr val="1b8a9a"/>
      </a:accent2>
      <a:accent3>
        <a:srgbClr val="b3121b"/>
      </a:accent3>
      <a:accent4>
        <a:srgbClr val="6fc3cf"/>
      </a:accent4>
      <a:accent5>
        <a:srgbClr val="7a9ea5"/>
      </a:accent5>
      <a:accent6>
        <a:srgbClr val="3c6e78"/>
      </a:accent6>
      <a:hlink>
        <a:srgbClr val="6fc3cf"/>
      </a:hlink>
      <a:folHlink>
        <a:srgbClr val="7a9ea5"/>
      </a:folHlink>
    </a:clrScheme>
    <a:fontScheme name="VIT Teal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IT Teal">
  <a:themeElements>
    <a:clrScheme name="VIT Teal">
      <a:dk1>
        <a:srgbClr val="0b2e36"/>
      </a:dk1>
      <a:lt1>
        <a:srgbClr val="ffffff"/>
      </a:lt1>
      <a:dk2>
        <a:srgbClr val="0e3a45"/>
      </a:dk2>
      <a:lt2>
        <a:srgbClr val="d6eef0"/>
      </a:lt2>
      <a:accent1>
        <a:srgbClr val="f2b134"/>
      </a:accent1>
      <a:accent2>
        <a:srgbClr val="1b8a9a"/>
      </a:accent2>
      <a:accent3>
        <a:srgbClr val="b3121b"/>
      </a:accent3>
      <a:accent4>
        <a:srgbClr val="6fc3cf"/>
      </a:accent4>
      <a:accent5>
        <a:srgbClr val="7a9ea5"/>
      </a:accent5>
      <a:accent6>
        <a:srgbClr val="3c6e78"/>
      </a:accent6>
      <a:hlink>
        <a:srgbClr val="6fc3cf"/>
      </a:hlink>
      <a:folHlink>
        <a:srgbClr val="7a9ea5"/>
      </a:folHlink>
    </a:clrScheme>
    <a:fontScheme name="VIT Teal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2026-10-06T08:42:31Z</dcterms:created>
  <dc:creator>Ravi Teja, John Joyce, Anirudh</dc:creator>
  <dc:description/>
  <dc:language>en-US</dc:language>
  <cp:lastModifiedBy/>
  <dcterms:modified xsi:type="dcterms:W3CDTF">2026-10-07T06:10:45Z</dcterms:modified>
  <cp:revision>6</cp:revision>
  <dc:subject>PptxGenJS Presentation</dc:subject>
  <dc:title>Review 3 - Hybrid NoC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33</vt:i4>
  </property>
  <property fmtid="{D5CDD505-2E9C-101B-9397-08002B2CF9AE}" pid="3" name="PresentationFormat">
    <vt:lpwstr>On-screen Show (16:9)</vt:lpwstr>
  </property>
  <property fmtid="{D5CDD505-2E9C-101B-9397-08002B2CF9AE}" pid="4" name="Slides">
    <vt:i4>33</vt:i4>
  </property>
</Properties>
</file>